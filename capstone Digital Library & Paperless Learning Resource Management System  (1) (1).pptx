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36EA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6EA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6EA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805193" y="4226696"/>
            <a:ext cx="6752590" cy="551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82C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1685925"/>
            <a:ext cx="16573499" cy="7886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036EA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40" y="2316295"/>
            <a:ext cx="8057515" cy="1200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036EA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1163" y="3547871"/>
            <a:ext cx="16410940" cy="5420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7.png"/><Relationship Id="rId6" Type="http://schemas.openxmlformats.org/officeDocument/2006/relationships/image" Target="../media/image4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7.png"/><Relationship Id="rId6" Type="http://schemas.openxmlformats.org/officeDocument/2006/relationships/image" Target="../media/image5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7.png"/><Relationship Id="rId7" Type="http://schemas.openxmlformats.org/officeDocument/2006/relationships/image" Target="../media/image5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7.png"/><Relationship Id="rId6" Type="http://schemas.openxmlformats.org/officeDocument/2006/relationships/image" Target="../media/image6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.png"/><Relationship Id="rId6" Type="http://schemas.openxmlformats.org/officeDocument/2006/relationships/image" Target="../media/image8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0343" y="6359280"/>
              <a:ext cx="12787312" cy="6429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7962" y="1856031"/>
              <a:ext cx="5172074" cy="50006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13311" y="2404687"/>
            <a:ext cx="708279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38525" algn="l"/>
                <a:tab pos="6601459" algn="l"/>
              </a:tabLst>
            </a:pP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5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	L</a:t>
            </a:r>
            <a:r>
              <a:rPr dirty="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dirty="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pc="-5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48504" y="2404687"/>
            <a:ext cx="84124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6130" algn="l"/>
              </a:tabLst>
            </a:pP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5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	L</a:t>
            </a:r>
            <a:r>
              <a:rPr dirty="0" sz="5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5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54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5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6175" y="3338137"/>
            <a:ext cx="133756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6130" algn="l"/>
                <a:tab pos="10485120" algn="l"/>
              </a:tabLst>
            </a:pP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5400" spc="-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5400" spc="-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	M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54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5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	S</a:t>
            </a:r>
            <a:r>
              <a:rPr dirty="0" sz="5400" spc="-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5400" spc="-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400" spc="-6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4749" y="5823985"/>
            <a:ext cx="1370330" cy="600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800" spc="-10" b="1">
                <a:solidFill>
                  <a:srgbClr val="FFFFFF"/>
                </a:solidFill>
                <a:latin typeface="Tahoma"/>
                <a:cs typeface="Tahoma"/>
              </a:rPr>
              <a:t>GOWTHAM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1800" spc="-85" b="1">
                <a:solidFill>
                  <a:srgbClr val="FFFFFF"/>
                </a:solidFill>
                <a:latin typeface="Tahoma"/>
                <a:cs typeface="Tahoma"/>
              </a:rPr>
              <a:t>1971260007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2950" y="230057"/>
            <a:ext cx="16579850" cy="6404610"/>
            <a:chOff x="742950" y="230057"/>
            <a:chExt cx="16579850" cy="64046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950" y="230057"/>
              <a:ext cx="16579594" cy="14402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15689" y="5531491"/>
              <a:ext cx="2813050" cy="1065530"/>
            </a:xfrm>
            <a:custGeom>
              <a:avLst/>
              <a:gdLst/>
              <a:ahLst/>
              <a:cxnLst/>
              <a:rect l="l" t="t" r="r" b="b"/>
              <a:pathLst>
                <a:path w="2813050" h="1065529">
                  <a:moveTo>
                    <a:pt x="2812692" y="1065161"/>
                  </a:moveTo>
                  <a:lnTo>
                    <a:pt x="0" y="1065161"/>
                  </a:lnTo>
                  <a:lnTo>
                    <a:pt x="0" y="0"/>
                  </a:lnTo>
                  <a:lnTo>
                    <a:pt x="2812692" y="0"/>
                  </a:lnTo>
                  <a:lnTo>
                    <a:pt x="2812692" y="1065161"/>
                  </a:lnTo>
                  <a:close/>
                </a:path>
              </a:pathLst>
            </a:custGeom>
            <a:solidFill>
              <a:srgbClr val="4E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015880" y="5531491"/>
              <a:ext cx="2809875" cy="1065530"/>
            </a:xfrm>
            <a:custGeom>
              <a:avLst/>
              <a:gdLst/>
              <a:ahLst/>
              <a:cxnLst/>
              <a:rect l="l" t="t" r="r" b="b"/>
              <a:pathLst>
                <a:path w="2809875" h="1065529">
                  <a:moveTo>
                    <a:pt x="2809684" y="1065032"/>
                  </a:moveTo>
                  <a:lnTo>
                    <a:pt x="0" y="1065032"/>
                  </a:lnTo>
                  <a:lnTo>
                    <a:pt x="0" y="0"/>
                  </a:lnTo>
                  <a:lnTo>
                    <a:pt x="2809684" y="0"/>
                  </a:lnTo>
                </a:path>
              </a:pathLst>
            </a:custGeom>
            <a:ln w="76199">
              <a:solidFill>
                <a:srgbClr val="1B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80382" y="7059692"/>
            <a:ext cx="8717280" cy="152082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595"/>
              </a:spcBef>
            </a:pP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27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dirty="0" sz="2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Oriented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concepts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libri"/>
                <a:cs typeface="Calibri"/>
              </a:rPr>
              <a:t>C++</a:t>
            </a:r>
            <a:endParaRPr sz="270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500"/>
              </a:spcBef>
            </a:pP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27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FFFF"/>
                </a:solidFill>
                <a:latin typeface="Calibri"/>
                <a:cs typeface="Calibri"/>
              </a:rPr>
              <a:t>code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7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libri"/>
                <a:cs typeface="Calibri"/>
              </a:rPr>
              <a:t>DSA0101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baseline="2645" sz="4725">
                <a:solidFill>
                  <a:srgbClr val="EDECE1"/>
                </a:solidFill>
                <a:latin typeface="Calibri"/>
                <a:cs typeface="Calibri"/>
              </a:rPr>
              <a:t>Guided</a:t>
            </a:r>
            <a:r>
              <a:rPr dirty="0" baseline="2645" sz="4725" spc="-52">
                <a:solidFill>
                  <a:srgbClr val="EDECE1"/>
                </a:solidFill>
                <a:latin typeface="Calibri"/>
                <a:cs typeface="Calibri"/>
              </a:rPr>
              <a:t> </a:t>
            </a:r>
            <a:r>
              <a:rPr dirty="0" baseline="2645" sz="4725">
                <a:solidFill>
                  <a:srgbClr val="EDECE1"/>
                </a:solidFill>
                <a:latin typeface="Calibri"/>
                <a:cs typeface="Calibri"/>
              </a:rPr>
              <a:t>by</a:t>
            </a:r>
            <a:r>
              <a:rPr dirty="0" baseline="2645" sz="4725" spc="-44">
                <a:solidFill>
                  <a:srgbClr val="EDECE1"/>
                </a:solidFill>
                <a:latin typeface="Calibri"/>
                <a:cs typeface="Calibri"/>
              </a:rPr>
              <a:t> </a:t>
            </a:r>
            <a:r>
              <a:rPr dirty="0" baseline="2645" sz="4725" b="1">
                <a:solidFill>
                  <a:srgbClr val="EDECE1"/>
                </a:solidFill>
                <a:latin typeface="Calibri"/>
                <a:cs typeface="Calibri"/>
              </a:rPr>
              <a:t>:</a:t>
            </a:r>
            <a:r>
              <a:rPr dirty="0" baseline="2645" sz="4725" spc="712" b="1">
                <a:solidFill>
                  <a:srgbClr val="EDECE1"/>
                </a:solidFill>
                <a:latin typeface="Calibri"/>
                <a:cs typeface="Calibri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dirty="0" sz="21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ahoma"/>
                <a:cs typeface="Tahoma"/>
              </a:rPr>
              <a:t>K.</a:t>
            </a:r>
            <a:r>
              <a:rPr dirty="0" sz="210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ahoma"/>
                <a:cs typeface="Tahoma"/>
              </a:rPr>
              <a:t>PARIMALA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ahoma"/>
                <a:cs typeface="Tahoma"/>
              </a:rPr>
              <a:t>KANAGA</a:t>
            </a:r>
            <a:r>
              <a:rPr dirty="0" sz="2100" spc="-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Tahoma"/>
                <a:cs typeface="Tahoma"/>
              </a:rPr>
              <a:t>DEVAN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3980" y="5620051"/>
            <a:ext cx="2774950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06705" marR="51689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solidFill>
                  <a:srgbClr val="FFFFFF"/>
                </a:solidFill>
                <a:latin typeface="Tahoma"/>
                <a:cs typeface="Tahoma"/>
              </a:rPr>
              <a:t>GOWTHAM</a:t>
            </a:r>
            <a:r>
              <a:rPr dirty="0" sz="2400" spc="-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S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1971260007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29581" y="5493391"/>
            <a:ext cx="2886075" cy="1055370"/>
            <a:chOff x="7029581" y="5493391"/>
            <a:chExt cx="2886075" cy="1055370"/>
          </a:xfrm>
        </p:grpSpPr>
        <p:sp>
          <p:nvSpPr>
            <p:cNvPr id="18" name="object 18"/>
            <p:cNvSpPr/>
            <p:nvPr/>
          </p:nvSpPr>
          <p:spPr>
            <a:xfrm>
              <a:off x="7067549" y="5531491"/>
              <a:ext cx="2814320" cy="979169"/>
            </a:xfrm>
            <a:custGeom>
              <a:avLst/>
              <a:gdLst/>
              <a:ahLst/>
              <a:cxnLst/>
              <a:rect l="l" t="t" r="r" b="b"/>
              <a:pathLst>
                <a:path w="2814320" h="979170">
                  <a:moveTo>
                    <a:pt x="2814018" y="978788"/>
                  </a:moveTo>
                  <a:lnTo>
                    <a:pt x="0" y="978788"/>
                  </a:lnTo>
                  <a:lnTo>
                    <a:pt x="0" y="0"/>
                  </a:lnTo>
                  <a:lnTo>
                    <a:pt x="2814018" y="0"/>
                  </a:lnTo>
                  <a:lnTo>
                    <a:pt x="2814018" y="978788"/>
                  </a:lnTo>
                  <a:close/>
                </a:path>
              </a:pathLst>
            </a:custGeom>
            <a:solidFill>
              <a:srgbClr val="4E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067681" y="5531491"/>
              <a:ext cx="2809875" cy="979169"/>
            </a:xfrm>
            <a:custGeom>
              <a:avLst/>
              <a:gdLst/>
              <a:ahLst/>
              <a:cxnLst/>
              <a:rect l="l" t="t" r="r" b="b"/>
              <a:pathLst>
                <a:path w="2809875" h="979170">
                  <a:moveTo>
                    <a:pt x="2809742" y="978693"/>
                  </a:moveTo>
                  <a:lnTo>
                    <a:pt x="0" y="978693"/>
                  </a:lnTo>
                  <a:lnTo>
                    <a:pt x="0" y="0"/>
                  </a:lnTo>
                  <a:lnTo>
                    <a:pt x="2809742" y="0"/>
                  </a:lnTo>
                </a:path>
              </a:pathLst>
            </a:custGeom>
            <a:ln w="76199">
              <a:solidFill>
                <a:srgbClr val="1B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05781" y="5607754"/>
            <a:ext cx="2776220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13690" marR="272415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SIDHARDHA</a:t>
            </a:r>
            <a:r>
              <a:rPr dirty="0" sz="240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Tahoma"/>
                <a:cs typeface="Tahoma"/>
              </a:rPr>
              <a:t>V </a:t>
            </a:r>
            <a:r>
              <a:rPr dirty="0" sz="2400" spc="-10" b="1">
                <a:solidFill>
                  <a:srgbClr val="FFFFFF"/>
                </a:solidFill>
                <a:latin typeface="Tahoma"/>
                <a:cs typeface="Tahoma"/>
              </a:rPr>
              <a:t>1965260034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69348" y="5493391"/>
            <a:ext cx="3543300" cy="1055370"/>
            <a:chOff x="12169348" y="5493391"/>
            <a:chExt cx="3543300" cy="1055370"/>
          </a:xfrm>
        </p:grpSpPr>
        <p:sp>
          <p:nvSpPr>
            <p:cNvPr id="22" name="object 22"/>
            <p:cNvSpPr/>
            <p:nvPr/>
          </p:nvSpPr>
          <p:spPr>
            <a:xfrm>
              <a:off x="12207295" y="5531491"/>
              <a:ext cx="3472179" cy="979169"/>
            </a:xfrm>
            <a:custGeom>
              <a:avLst/>
              <a:gdLst/>
              <a:ahLst/>
              <a:cxnLst/>
              <a:rect l="l" t="t" r="r" b="b"/>
              <a:pathLst>
                <a:path w="3472180" h="979170">
                  <a:moveTo>
                    <a:pt x="3471642" y="978788"/>
                  </a:moveTo>
                  <a:lnTo>
                    <a:pt x="0" y="978788"/>
                  </a:lnTo>
                  <a:lnTo>
                    <a:pt x="0" y="0"/>
                  </a:lnTo>
                  <a:lnTo>
                    <a:pt x="3471642" y="0"/>
                  </a:lnTo>
                  <a:lnTo>
                    <a:pt x="3471642" y="978788"/>
                  </a:lnTo>
                  <a:close/>
                </a:path>
              </a:pathLst>
            </a:custGeom>
            <a:solidFill>
              <a:srgbClr val="4E8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207448" y="5531491"/>
              <a:ext cx="3467100" cy="979169"/>
            </a:xfrm>
            <a:custGeom>
              <a:avLst/>
              <a:gdLst/>
              <a:ahLst/>
              <a:cxnLst/>
              <a:rect l="l" t="t" r="r" b="b"/>
              <a:pathLst>
                <a:path w="3467100" h="979170">
                  <a:moveTo>
                    <a:pt x="3466947" y="978693"/>
                  </a:moveTo>
                  <a:lnTo>
                    <a:pt x="0" y="978693"/>
                  </a:lnTo>
                  <a:lnTo>
                    <a:pt x="0" y="0"/>
                  </a:lnTo>
                  <a:lnTo>
                    <a:pt x="3466947" y="0"/>
                  </a:lnTo>
                </a:path>
              </a:pathLst>
            </a:custGeom>
            <a:ln w="76199">
              <a:solidFill>
                <a:srgbClr val="1B33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2245548" y="5574036"/>
            <a:ext cx="3433445" cy="8464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593725" marR="665480" indent="393700">
              <a:lnSpc>
                <a:spcPts val="3229"/>
              </a:lnSpc>
              <a:spcBef>
                <a:spcPts val="204"/>
              </a:spcBef>
            </a:pPr>
            <a:r>
              <a:rPr dirty="0" sz="2700" b="1">
                <a:solidFill>
                  <a:srgbClr val="FFFFFF"/>
                </a:solidFill>
                <a:latin typeface="Tahoma"/>
                <a:cs typeface="Tahoma"/>
              </a:rPr>
              <a:t>GOKUL</a:t>
            </a:r>
            <a:r>
              <a:rPr dirty="0" sz="27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50" b="1">
                <a:solidFill>
                  <a:srgbClr val="FFFFFF"/>
                </a:solidFill>
                <a:latin typeface="Tahoma"/>
                <a:cs typeface="Tahoma"/>
              </a:rPr>
              <a:t>K </a:t>
            </a:r>
            <a:r>
              <a:rPr dirty="0" sz="2700" spc="-30" b="1">
                <a:solidFill>
                  <a:srgbClr val="FFFFFF"/>
                </a:solidFill>
                <a:latin typeface="Tahoma"/>
                <a:cs typeface="Tahoma"/>
              </a:rPr>
              <a:t>1911260026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986440"/>
            <a:ext cx="8034518" cy="59211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4030" y="3986440"/>
            <a:ext cx="8034518" cy="59211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162" y="4472215"/>
            <a:ext cx="400049" cy="314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0610" y="4485882"/>
            <a:ext cx="300658" cy="2733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8412" y="4257176"/>
            <a:ext cx="6826884" cy="49212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700" spc="-170">
                <a:solidFill>
                  <a:srgbClr val="0082C7"/>
                </a:solidFill>
                <a:latin typeface="Arial MT"/>
                <a:cs typeface="Arial MT"/>
              </a:rPr>
              <a:t>Modern</a:t>
            </a:r>
            <a:r>
              <a:rPr dirty="0" sz="2700" spc="-345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2700" spc="-175">
                <a:solidFill>
                  <a:srgbClr val="0082C7"/>
                </a:solidFill>
                <a:latin typeface="Arial MT"/>
                <a:cs typeface="Arial MT"/>
              </a:rPr>
              <a:t>Academic</a:t>
            </a:r>
            <a:r>
              <a:rPr dirty="0" sz="2700" spc="-335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082C7"/>
                </a:solidFill>
                <a:latin typeface="Arial MT"/>
                <a:cs typeface="Arial MT"/>
              </a:rPr>
              <a:t>Need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Higher</a:t>
            </a:r>
            <a:r>
              <a:rPr dirty="0" sz="2700" spc="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education</a:t>
            </a:r>
            <a:r>
              <a:rPr dirty="0" sz="2700" spc="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institutions</a:t>
            </a:r>
            <a:r>
              <a:rPr dirty="0" sz="2700" spc="1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455369"/>
                </a:solidFill>
                <a:latin typeface="Tahoma"/>
                <a:cs typeface="Tahoma"/>
              </a:rPr>
              <a:t>are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55100"/>
              </a:lnSpc>
            </a:pP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transitioning</a:t>
            </a:r>
            <a:r>
              <a:rPr dirty="0" sz="27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rapidly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from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physical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print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media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to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digitized</a:t>
            </a:r>
            <a:r>
              <a:rPr dirty="0" sz="27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learning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assets.</a:t>
            </a:r>
            <a:r>
              <a:rPr dirty="0" sz="27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Managing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digital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books,</a:t>
            </a:r>
            <a:r>
              <a:rPr dirty="0" sz="2700" spc="10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e-journals,</a:t>
            </a:r>
            <a:r>
              <a:rPr dirty="0" sz="2700" spc="10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lecture</a:t>
            </a:r>
            <a:r>
              <a:rPr dirty="0" sz="2700" spc="10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media,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455369"/>
                </a:solidFill>
                <a:latin typeface="Tahoma"/>
                <a:cs typeface="Tahoma"/>
              </a:rPr>
              <a:t>and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research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repositories</a:t>
            </a:r>
            <a:r>
              <a:rPr dirty="0" sz="2700" spc="10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requires</a:t>
            </a:r>
            <a:r>
              <a:rPr dirty="0" sz="2700" spc="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systematic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access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control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2700" spc="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streamlined</a:t>
            </a:r>
            <a:r>
              <a:rPr dirty="0" sz="27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digital indexing.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pc="-30"/>
              <a:t>Paperless</a:t>
            </a:r>
            <a:r>
              <a:rPr dirty="0" spc="-145"/>
              <a:t> </a:t>
            </a:r>
            <a:r>
              <a:rPr dirty="0" spc="-10"/>
              <a:t>Ecosystem</a:t>
            </a: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Apaperless</a:t>
            </a:r>
            <a:r>
              <a:rPr dirty="0" spc="7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learning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10">
                <a:solidFill>
                  <a:srgbClr val="455369"/>
                </a:solidFill>
                <a:latin typeface="Tahoma"/>
                <a:cs typeface="Tahoma"/>
              </a:rPr>
              <a:t>resourcesystem</a:t>
            </a:r>
          </a:p>
          <a:p>
            <a:pPr marL="12700" marR="5080">
              <a:lnSpc>
                <a:spcPct val="156200"/>
              </a:lnSpc>
            </a:pP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eliminates</a:t>
            </a:r>
            <a:r>
              <a:rPr dirty="0" spc="6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manual</a:t>
            </a:r>
            <a:r>
              <a:rPr dirty="0" spc="6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paperwork,</a:t>
            </a:r>
            <a:r>
              <a:rPr dirty="0" spc="6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10">
                <a:solidFill>
                  <a:srgbClr val="455369"/>
                </a:solidFill>
                <a:latin typeface="Tahoma"/>
                <a:cs typeface="Tahoma"/>
              </a:rPr>
              <a:t>physical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ledger</a:t>
            </a:r>
            <a:r>
              <a:rPr dirty="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logging,</a:t>
            </a:r>
            <a:r>
              <a:rPr dirty="0" spc="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pc="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lost</a:t>
            </a:r>
            <a:r>
              <a:rPr dirty="0" spc="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book</a:t>
            </a:r>
            <a:r>
              <a:rPr dirty="0" spc="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entries.</a:t>
            </a:r>
            <a:r>
              <a:rPr dirty="0" spc="6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25">
                <a:solidFill>
                  <a:srgbClr val="455369"/>
                </a:solidFill>
                <a:latin typeface="Tahoma"/>
                <a:cs typeface="Tahoma"/>
              </a:rPr>
              <a:t>It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facilitates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instant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digital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10">
                <a:solidFill>
                  <a:srgbClr val="455369"/>
                </a:solidFill>
                <a:latin typeface="Tahoma"/>
                <a:cs typeface="Tahoma"/>
              </a:rPr>
              <a:t>checkouts,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continuous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availability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monitoring,</a:t>
            </a:r>
            <a:r>
              <a:rPr dirty="0" spc="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25">
                <a:solidFill>
                  <a:srgbClr val="455369"/>
                </a:solidFill>
                <a:latin typeface="Tahoma"/>
                <a:cs typeface="Tahoma"/>
              </a:rPr>
              <a:t>and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eco-friendly</a:t>
            </a:r>
            <a:r>
              <a:rPr dirty="0" spc="11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55369"/>
                </a:solidFill>
                <a:latin typeface="Tahoma"/>
                <a:cs typeface="Tahoma"/>
              </a:rPr>
              <a:t>institutional</a:t>
            </a:r>
            <a:r>
              <a:rPr dirty="0" spc="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pc="-10">
                <a:solidFill>
                  <a:srgbClr val="455369"/>
                </a:solidFill>
                <a:latin typeface="Tahoma"/>
                <a:cs typeface="Tahoma"/>
              </a:rPr>
              <a:t>resource administration.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45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>
                <a:solidFill>
                  <a:srgbClr val="0D1729"/>
                </a:solidFill>
              </a:rPr>
              <a:t>Introduction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5462"/>
            <a:ext cx="18056382" cy="1588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08" y="3456431"/>
            <a:ext cx="16285464" cy="640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7119" y="521207"/>
            <a:ext cx="950976" cy="950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40995" y="594359"/>
            <a:ext cx="297179" cy="5029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66800" y="9046464"/>
            <a:ext cx="16133444" cy="0"/>
          </a:xfrm>
          <a:custGeom>
            <a:avLst/>
            <a:gdLst/>
            <a:ahLst/>
            <a:cxnLst/>
            <a:rect l="l" t="t" r="r" b="b"/>
            <a:pathLst>
              <a:path w="16133444" h="0">
                <a:moveTo>
                  <a:pt x="0" y="0"/>
                </a:moveTo>
                <a:lnTo>
                  <a:pt x="1613306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545568" y="1200911"/>
            <a:ext cx="3365500" cy="0"/>
          </a:xfrm>
          <a:custGeom>
            <a:avLst/>
            <a:gdLst/>
            <a:ahLst/>
            <a:cxnLst/>
            <a:rect l="l" t="t" r="r" b="b"/>
            <a:pathLst>
              <a:path w="3365500" h="0">
                <a:moveTo>
                  <a:pt x="0" y="0"/>
                </a:moveTo>
                <a:lnTo>
                  <a:pt x="336499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954024" y="3517391"/>
            <a:ext cx="16352519" cy="780415"/>
            <a:chOff x="954024" y="3517391"/>
            <a:chExt cx="16352519" cy="78041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4024" y="3517391"/>
              <a:ext cx="16352519" cy="7802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69264" y="3547871"/>
              <a:ext cx="16327119" cy="745490"/>
            </a:xfrm>
            <a:custGeom>
              <a:avLst/>
              <a:gdLst/>
              <a:ahLst/>
              <a:cxnLst/>
              <a:rect l="l" t="t" r="r" b="b"/>
              <a:pathLst>
                <a:path w="16327119" h="745489">
                  <a:moveTo>
                    <a:pt x="16326612" y="745236"/>
                  </a:moveTo>
                  <a:lnTo>
                    <a:pt x="0" y="745236"/>
                  </a:lnTo>
                  <a:lnTo>
                    <a:pt x="0" y="0"/>
                  </a:lnTo>
                  <a:lnTo>
                    <a:pt x="16326612" y="0"/>
                  </a:lnTo>
                  <a:lnTo>
                    <a:pt x="16326612" y="745236"/>
                  </a:lnTo>
                  <a:close/>
                </a:path>
              </a:pathLst>
            </a:custGeom>
            <a:solidFill>
              <a:srgbClr val="6038C4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69263" y="3547871"/>
          <a:ext cx="16410940" cy="5420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9135"/>
                <a:gridCol w="2663825"/>
                <a:gridCol w="3526155"/>
                <a:gridCol w="3432809"/>
                <a:gridCol w="3469005"/>
              </a:tblGrid>
              <a:tr h="744855"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35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Author</a:t>
                      </a:r>
                      <a:endParaRPr sz="2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2865">
                    <a:lnL w="3175">
                      <a:solidFill>
                        <a:srgbClr val="6038B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372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3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Year</a:t>
                      </a:r>
                      <a:endParaRPr sz="2300">
                        <a:latin typeface="Consolas"/>
                        <a:cs typeface="Consolas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marL="89535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2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Method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6360"/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2300" spc="-4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Pros</a:t>
                      </a:r>
                      <a:r>
                        <a:rPr dirty="0" sz="2300" spc="-41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00" spc="-18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/</a:t>
                      </a:r>
                      <a:r>
                        <a:rPr dirty="0" sz="2300" spc="-2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0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Cons</a:t>
                      </a:r>
                      <a:endParaRPr sz="2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69215"/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7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Our</a:t>
                      </a:r>
                      <a:r>
                        <a:rPr dirty="0" sz="1750" spc="484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SOlLltİOfl</a:t>
                      </a:r>
                      <a:endParaRPr sz="17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39065">
                    <a:lnR w="3175">
                      <a:solidFill>
                        <a:srgbClr val="6038B8"/>
                      </a:solidFill>
                      <a:prstDash val="solid"/>
                    </a:lnR>
                  </a:tcPr>
                </a:tc>
              </a:tr>
              <a:tr h="1340485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400" spc="-25">
                          <a:solidFill>
                            <a:srgbClr val="2A2A2A"/>
                          </a:solidFill>
                          <a:latin typeface="Lucida Sans Unicode"/>
                          <a:cs typeface="Lucida Sans Unicode"/>
                        </a:rPr>
                        <a:t>Lee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84150">
                    <a:lnL w="3175">
                      <a:solidFill>
                        <a:srgbClr val="6038B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85190">
                        <a:lnSpc>
                          <a:spcPct val="100000"/>
                        </a:lnSpc>
                        <a:spcBef>
                          <a:spcPts val="2135"/>
                        </a:spcBef>
                      </a:pPr>
                      <a:r>
                        <a:rPr dirty="0" sz="2400" spc="-20">
                          <a:solidFill>
                            <a:srgbClr val="2B2B2B"/>
                          </a:solidFill>
                          <a:latin typeface="Lucida Sans Unicode"/>
                          <a:cs typeface="Lucida Sans Unicode"/>
                        </a:rPr>
                        <a:t>2025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71145"/>
                </a:tc>
                <a:tc>
                  <a:txBody>
                    <a:bodyPr/>
                    <a:lstStyle/>
                    <a:p>
                      <a:pPr marL="888365" marR="326390" indent="3175">
                        <a:lnSpc>
                          <a:spcPct val="110800"/>
                        </a:lnSpc>
                        <a:spcBef>
                          <a:spcPts val="445"/>
                        </a:spcBef>
                      </a:pPr>
                      <a:r>
                        <a:rPr dirty="0" sz="260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Oline-first</a:t>
                      </a:r>
                      <a:r>
                        <a:rPr dirty="0" sz="2600" spc="465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100">
                          <a:solidFill>
                            <a:srgbClr val="131313"/>
                          </a:solidFill>
                          <a:latin typeface="Calibri"/>
                          <a:cs typeface="Calibri"/>
                        </a:rPr>
                        <a:t>reader </a:t>
                      </a:r>
                      <a:r>
                        <a:rPr dirty="0" sz="2600" spc="-25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346710" marR="567055" indent="-12700">
                        <a:lnSpc>
                          <a:spcPct val="110800"/>
                        </a:lnSpc>
                        <a:spcBef>
                          <a:spcPts val="445"/>
                        </a:spcBef>
                      </a:pPr>
                      <a:r>
                        <a:rPr dirty="0" sz="2600" spc="-5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Pros:</a:t>
                      </a:r>
                      <a:r>
                        <a:rPr dirty="0" sz="2600" spc="-10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4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accessibil•cy. </a:t>
                      </a:r>
                      <a:r>
                        <a:rPr dirty="0" sz="2600" spc="-20">
                          <a:solidFill>
                            <a:srgbClr val="313131"/>
                          </a:solidFill>
                          <a:latin typeface="Calibri"/>
                          <a:cs typeface="Calibri"/>
                        </a:rPr>
                        <a:t>Cons:</a:t>
                      </a:r>
                      <a:r>
                        <a:rPr dirty="0" sz="2600" spc="-100">
                          <a:solidFill>
                            <a:srgbClr val="3131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sync</a:t>
                      </a:r>
                      <a:r>
                        <a:rPr dirty="0" sz="2600" spc="-7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600" spc="-60">
                          <a:solidFill>
                            <a:srgbClr val="151515"/>
                          </a:solidFill>
                          <a:latin typeface="Calibri"/>
                          <a:cs typeface="Calibri"/>
                        </a:rPr>
                        <a:t>conflicts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539750" marR="381635" indent="7620">
                        <a:lnSpc>
                          <a:spcPct val="113999"/>
                        </a:lnSpc>
                        <a:spcBef>
                          <a:spcPts val="459"/>
                        </a:spcBef>
                      </a:pPr>
                      <a:r>
                        <a:rPr dirty="0" sz="2500" spc="-27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Conflict-</a:t>
                      </a:r>
                      <a:r>
                        <a:rPr dirty="0" sz="2500" spc="-120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resilient </a:t>
                      </a:r>
                      <a:r>
                        <a:rPr dirty="0" sz="2500" spc="-200">
                          <a:solidFill>
                            <a:srgbClr val="383838"/>
                          </a:solidFill>
                          <a:latin typeface="Lucida Sans Unicode"/>
                          <a:cs typeface="Lucida Sans Unicode"/>
                        </a:rPr>
                        <a:t>sync</a:t>
                      </a:r>
                      <a:r>
                        <a:rPr dirty="0" sz="2500" spc="-65">
                          <a:solidFill>
                            <a:srgbClr val="38383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00" spc="-325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whh</a:t>
                      </a:r>
                      <a:r>
                        <a:rPr dirty="0" sz="2500" spc="-175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00" spc="-295">
                          <a:solidFill>
                            <a:srgbClr val="262626"/>
                          </a:solidFill>
                          <a:latin typeface="Lucida Sans Unicode"/>
                          <a:cs typeface="Lucida Sans Unicode"/>
                        </a:rPr>
                        <a:t>versioning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8419">
                    <a:lnR w="3175">
                      <a:solidFill>
                        <a:srgbClr val="6038B8"/>
                      </a:solidFill>
                      <a:prstDash val="solid"/>
                    </a:lnR>
                  </a:tcPr>
                </a:tc>
              </a:tr>
              <a:tr h="1242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252729">
                        <a:lnSpc>
                          <a:spcPct val="100000"/>
                        </a:lnSpc>
                      </a:pPr>
                      <a:r>
                        <a:rPr dirty="0" sz="2450" spc="-235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Nguyen</a:t>
                      </a:r>
                      <a:r>
                        <a:rPr dirty="0" sz="2450" spc="-90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50" spc="-380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&amp;</a:t>
                      </a:r>
                      <a:r>
                        <a:rPr dirty="0" sz="2450" spc="-240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50" spc="-10">
                          <a:solidFill>
                            <a:srgbClr val="282828"/>
                          </a:solidFill>
                          <a:latin typeface="Lucida Sans Unicode"/>
                          <a:cs typeface="Lucida Sans Unicode"/>
                        </a:rPr>
                        <a:t>Silva</a:t>
                      </a:r>
                      <a:endParaRPr sz="24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21615">
                    <a:lnL w="3175">
                      <a:solidFill>
                        <a:srgbClr val="6038B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r" marR="885190">
                        <a:lnSpc>
                          <a:spcPct val="100000"/>
                        </a:lnSpc>
                      </a:pPr>
                      <a:r>
                        <a:rPr dirty="0" sz="2400" spc="-20">
                          <a:solidFill>
                            <a:srgbClr val="313131"/>
                          </a:solidFill>
                          <a:latin typeface="Lucida Sans Unicode"/>
                          <a:cs typeface="Lucida Sans Unicode"/>
                        </a:rPr>
                        <a:t>2025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93675"/>
                </a:tc>
                <a:tc>
                  <a:txBody>
                    <a:bodyPr/>
                    <a:lstStyle/>
                    <a:p>
                      <a:pPr marL="890905">
                        <a:lnSpc>
                          <a:spcPct val="100000"/>
                        </a:lnSpc>
                        <a:spcBef>
                          <a:spcPts val="2870"/>
                        </a:spcBef>
                      </a:pPr>
                      <a:r>
                        <a:rPr dirty="0" sz="2700" spc="-8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dirty="0" sz="2700" spc="-1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8883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600" spc="-1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analyics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B="0" marT="3644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34010">
                        <a:lnSpc>
                          <a:spcPct val="100000"/>
                        </a:lnSpc>
                      </a:pPr>
                      <a:r>
                        <a:rPr dirty="0" sz="2400" spc="-150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Pros:</a:t>
                      </a:r>
                      <a:r>
                        <a:rPr dirty="0" sz="2400" spc="-240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2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transparency.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  <a:p>
                      <a:pPr marL="3460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2500" spc="-245">
                          <a:solidFill>
                            <a:srgbClr val="2A2A2A"/>
                          </a:solidFill>
                          <a:latin typeface="Lucida Sans Unicode"/>
                          <a:cs typeface="Lucida Sans Unicode"/>
                        </a:rPr>
                        <a:t>Cons:</a:t>
                      </a:r>
                      <a:r>
                        <a:rPr dirty="0" sz="2500" spc="-315">
                          <a:solidFill>
                            <a:srgbClr val="2A2A2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00" spc="-70">
                          <a:solidFill>
                            <a:srgbClr val="282828"/>
                          </a:solidFill>
                          <a:latin typeface="Lucida Sans Unicode"/>
                          <a:cs typeface="Lucida Sans Unicode"/>
                        </a:rPr>
                        <a:t>privacy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534670">
                        <a:lnSpc>
                          <a:spcPct val="100000"/>
                        </a:lnSpc>
                      </a:pPr>
                      <a:r>
                        <a:rPr dirty="0" sz="2500" spc="-220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Privacy-</a:t>
                      </a:r>
                      <a:r>
                        <a:rPr dirty="0" sz="2500" spc="-114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preserving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  <a:p>
                      <a:pPr marL="54419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 spc="-225">
                          <a:solidFill>
                            <a:srgbClr val="242424"/>
                          </a:solidFill>
                          <a:latin typeface="Lucida Sans Unicode"/>
                          <a:cs typeface="Lucida Sans Unicode"/>
                        </a:rPr>
                        <a:t>aggregated</a:t>
                      </a:r>
                      <a:r>
                        <a:rPr dirty="0" sz="2400" spc="20">
                          <a:solidFill>
                            <a:srgbClr val="242424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0">
                          <a:solidFill>
                            <a:srgbClr val="262626"/>
                          </a:solidFill>
                          <a:latin typeface="Lucida Sans Unicode"/>
                          <a:cs typeface="Lucida Sans Unicode"/>
                        </a:rPr>
                        <a:t>analyics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320">
                    <a:lnR w="3175">
                      <a:solidFill>
                        <a:srgbClr val="6038B8"/>
                      </a:solidFill>
                      <a:prstDash val="solid"/>
                    </a:lnR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038B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ts val="2790"/>
                        </a:lnSpc>
                      </a:pPr>
                      <a:r>
                        <a:rPr dirty="0" sz="2450" spc="-80">
                          <a:solidFill>
                            <a:srgbClr val="2D2D2D"/>
                          </a:solidFill>
                          <a:latin typeface="Lucida Sans Unicode"/>
                          <a:cs typeface="Lucida Sans Unicode"/>
                        </a:rPr>
                        <a:t>concerns</a:t>
                      </a:r>
                      <a:endParaRPr sz="24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6038B8"/>
                      </a:solidFill>
                      <a:prstDash val="solid"/>
                    </a:lnR>
                  </a:tcPr>
                </a:tc>
              </a:tr>
              <a:tr h="1692910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2470"/>
                        </a:spcBef>
                      </a:pPr>
                      <a:r>
                        <a:rPr dirty="0" sz="2400" spc="-240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Kumar</a:t>
                      </a:r>
                      <a:r>
                        <a:rPr dirty="0" sz="2400" spc="-114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5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et</a:t>
                      </a:r>
                      <a:r>
                        <a:rPr dirty="0" sz="2400" spc="-245">
                          <a:solidFill>
                            <a:srgbClr val="181818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25">
                          <a:solidFill>
                            <a:srgbClr val="2A2A2A"/>
                          </a:solidFill>
                          <a:latin typeface="Lucida Sans Unicode"/>
                          <a:cs typeface="Lucida Sans Unicode"/>
                        </a:rPr>
                        <a:t>al.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13690">
                    <a:lnL w="3175">
                      <a:solidFill>
                        <a:srgbClr val="6038B8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r" marR="875665">
                        <a:lnSpc>
                          <a:spcPct val="100000"/>
                        </a:lnSpc>
                      </a:pPr>
                      <a:r>
                        <a:rPr dirty="0" sz="2350" spc="-20">
                          <a:solidFill>
                            <a:srgbClr val="282828"/>
                          </a:solidFill>
                          <a:latin typeface="Lucida Sans Unicode"/>
                          <a:cs typeface="Lucida Sans Unicode"/>
                        </a:rPr>
                        <a:t>2024</a:t>
                      </a:r>
                      <a:endParaRPr sz="2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04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2400" spc="-23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Al-</a:t>
                      </a:r>
                      <a:r>
                        <a:rPr dirty="0" sz="2400" spc="-254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based</a:t>
                      </a:r>
                      <a:r>
                        <a:rPr dirty="0" sz="2400" spc="-10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60">
                          <a:solidFill>
                            <a:srgbClr val="161616"/>
                          </a:solidFill>
                          <a:latin typeface="Lucida Sans Unicode"/>
                          <a:cs typeface="Lucida Sans Unicode"/>
                        </a:rPr>
                        <a:t>content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  <a:p>
                      <a:pPr marL="8832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2450" spc="-110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tagging</a:t>
                      </a:r>
                      <a:endParaRPr sz="24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0645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baseline="1157" sz="3600" spc="-225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Pros:</a:t>
                      </a:r>
                      <a:r>
                        <a:rPr dirty="0" baseline="1157" sz="3600" spc="-382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90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faster</a:t>
                      </a:r>
                      <a:r>
                        <a:rPr dirty="0" sz="2400" spc="-160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baseline="1157" sz="3600" spc="-195">
                          <a:solidFill>
                            <a:srgbClr val="1F1F1F"/>
                          </a:solidFill>
                          <a:latin typeface="Lucida Sans Unicode"/>
                          <a:cs typeface="Lucida Sans Unicode"/>
                        </a:rPr>
                        <a:t>indexing.</a:t>
                      </a:r>
                      <a:endParaRPr baseline="1157" sz="3600">
                        <a:latin typeface="Lucida Sans Unicode"/>
                        <a:cs typeface="Lucida Sans Unicode"/>
                      </a:endParaRPr>
                    </a:p>
                    <a:p>
                      <a:pPr marL="34671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2450" spc="-220">
                          <a:solidFill>
                            <a:srgbClr val="2F2F2F"/>
                          </a:solidFill>
                          <a:latin typeface="Lucida Sans Unicode"/>
                          <a:cs typeface="Lucida Sans Unicode"/>
                        </a:rPr>
                        <a:t>Cons:</a:t>
                      </a:r>
                      <a:r>
                        <a:rPr dirty="0" sz="2450" spc="-345">
                          <a:solidFill>
                            <a:srgbClr val="2F2F2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50" spc="-180">
                          <a:solidFill>
                            <a:srgbClr val="262626"/>
                          </a:solidFill>
                          <a:latin typeface="Lucida Sans Unicode"/>
                          <a:cs typeface="Lucida Sans Unicode"/>
                        </a:rPr>
                        <a:t>bias</a:t>
                      </a:r>
                      <a:r>
                        <a:rPr dirty="0" sz="2450" spc="-320">
                          <a:solidFill>
                            <a:srgbClr val="262626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baseline="1133" sz="3675" spc="-284">
                          <a:solidFill>
                            <a:srgbClr val="363636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dirty="0" baseline="1133" sz="3675" spc="-592">
                          <a:solidFill>
                            <a:srgbClr val="363636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50" spc="-70">
                          <a:solidFill>
                            <a:srgbClr val="2D2D2D"/>
                          </a:solidFill>
                          <a:latin typeface="Lucida Sans Unicode"/>
                          <a:cs typeface="Lucida Sans Unicode"/>
                        </a:rPr>
                        <a:t>models</a:t>
                      </a:r>
                      <a:endParaRPr sz="24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12395"/>
                </a:tc>
                <a:tc>
                  <a:txBody>
                    <a:bodyPr/>
                    <a:lstStyle/>
                    <a:p>
                      <a:pPr marL="5353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400" spc="-295">
                          <a:solidFill>
                            <a:srgbClr val="151515"/>
                          </a:solidFill>
                          <a:latin typeface="Lucida Sans Unicode"/>
                          <a:cs typeface="Lucida Sans Unicode"/>
                        </a:rPr>
                        <a:t>HUlzlan-</a:t>
                      </a:r>
                      <a:r>
                        <a:rPr dirty="0" sz="2400" spc="-270">
                          <a:solidFill>
                            <a:srgbClr val="151515"/>
                          </a:solidFill>
                          <a:latin typeface="Lucida Sans Unicode"/>
                          <a:cs typeface="Lucida Sans Unicode"/>
                        </a:rPr>
                        <a:t>in-</a:t>
                      </a:r>
                      <a:r>
                        <a:rPr dirty="0" sz="2400" spc="-310">
                          <a:solidFill>
                            <a:srgbClr val="151515"/>
                          </a:solidFill>
                          <a:latin typeface="Lucida Sans Unicode"/>
                          <a:cs typeface="Lucida Sans Unicode"/>
                        </a:rPr>
                        <a:t>loop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  <a:p>
                      <a:pPr marL="537845" marR="418465" indent="10795">
                        <a:lnSpc>
                          <a:spcPct val="116300"/>
                        </a:lnSpc>
                        <a:spcBef>
                          <a:spcPts val="155"/>
                        </a:spcBef>
                      </a:pPr>
                      <a:r>
                        <a:rPr dirty="0" baseline="1133" sz="3675" spc="-719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V</a:t>
                      </a:r>
                      <a:r>
                        <a:rPr dirty="0" baseline="1133" sz="3675" spc="157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  </a:t>
                      </a:r>
                      <a:r>
                        <a:rPr dirty="0" sz="2450" spc="-265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Ïdation</a:t>
                      </a:r>
                      <a:r>
                        <a:rPr dirty="0" sz="2450" spc="-220">
                          <a:solidFill>
                            <a:srgbClr val="21212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baseline="1133" sz="3675" spc="-855">
                          <a:solidFill>
                            <a:srgbClr val="343434"/>
                          </a:solidFill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dirty="0" baseline="1133" sz="3675" spc="-367">
                          <a:solidFill>
                            <a:srgbClr val="343434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baseline="1133" sz="3675" spc="-277">
                          <a:solidFill>
                            <a:srgbClr val="0F0F0F"/>
                          </a:solidFill>
                          <a:latin typeface="Lucida Sans Unicode"/>
                          <a:cs typeface="Lucida Sans Unicode"/>
                        </a:rPr>
                        <a:t>falrness </a:t>
                      </a:r>
                      <a:r>
                        <a:rPr dirty="0" sz="2450" spc="-10">
                          <a:solidFill>
                            <a:srgbClr val="1C1C1C"/>
                          </a:solidFill>
                          <a:latin typeface="Lucida Sans Unicode"/>
                          <a:cs typeface="Lucida Sans Unicode"/>
                        </a:rPr>
                        <a:t>checks</a:t>
                      </a:r>
                      <a:endParaRPr sz="24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620">
                    <a:lnR w="3175">
                      <a:solidFill>
                        <a:srgbClr val="6038B8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33890" y="1268729"/>
            <a:ext cx="857059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50">
                <a:solidFill>
                  <a:srgbClr val="FD5D8E"/>
                </a:solidFill>
                <a:latin typeface="Cambria"/>
                <a:cs typeface="Cambria"/>
              </a:rPr>
              <a:t>Literoture</a:t>
            </a:r>
            <a:r>
              <a:rPr dirty="0" sz="4850" spc="465">
                <a:solidFill>
                  <a:srgbClr val="FD5D8E"/>
                </a:solidFill>
                <a:latin typeface="Cambria"/>
                <a:cs typeface="Cambria"/>
              </a:rPr>
              <a:t> </a:t>
            </a:r>
            <a:r>
              <a:rPr dirty="0" sz="4850" spc="105">
                <a:solidFill>
                  <a:srgbClr val="ED5E85"/>
                </a:solidFill>
                <a:latin typeface="Cambria"/>
                <a:cs typeface="Cambria"/>
              </a:rPr>
              <a:t>Sumey</a:t>
            </a:r>
            <a:r>
              <a:rPr dirty="0" sz="4850" spc="100">
                <a:solidFill>
                  <a:srgbClr val="ED5E85"/>
                </a:solidFill>
                <a:latin typeface="Cambria"/>
                <a:cs typeface="Cambria"/>
              </a:rPr>
              <a:t> </a:t>
            </a:r>
            <a:r>
              <a:rPr dirty="0" sz="4850" spc="160">
                <a:solidFill>
                  <a:srgbClr val="FB5D89"/>
                </a:solidFill>
                <a:latin typeface="Cambria"/>
                <a:cs typeface="Cambria"/>
              </a:rPr>
              <a:t>(2024-</a:t>
            </a:r>
            <a:r>
              <a:rPr dirty="0" sz="4850" spc="165">
                <a:solidFill>
                  <a:srgbClr val="FB5D89"/>
                </a:solidFill>
                <a:latin typeface="Cambria"/>
                <a:cs typeface="Cambria"/>
              </a:rPr>
              <a:t>2025)</a:t>
            </a:r>
            <a:endParaRPr sz="48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808" y="2632455"/>
            <a:ext cx="87668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10">
                <a:solidFill>
                  <a:srgbClr val="0F0F0F"/>
                </a:solidFill>
                <a:latin typeface="Lucida Sans Unicode"/>
                <a:cs typeface="Lucida Sans Unicode"/>
              </a:rPr>
              <a:t>Recent</a:t>
            </a:r>
            <a:r>
              <a:rPr dirty="0" sz="2500" spc="-229">
                <a:solidFill>
                  <a:srgbClr val="0F0F0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80">
                <a:solidFill>
                  <a:srgbClr val="1C1C1C"/>
                </a:solidFill>
                <a:latin typeface="Lucida Sans Unicode"/>
                <a:cs typeface="Lucida Sans Unicode"/>
              </a:rPr>
              <a:t>innovations,</a:t>
            </a:r>
            <a:r>
              <a:rPr dirty="0" sz="2500" spc="-15">
                <a:solidFill>
                  <a:srgbClr val="1C1C1C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4">
                <a:solidFill>
                  <a:srgbClr val="262626"/>
                </a:solidFill>
                <a:latin typeface="Lucida Sans Unicode"/>
                <a:cs typeface="Lucida Sans Unicode"/>
              </a:rPr>
              <a:t>gaps </a:t>
            </a:r>
            <a:r>
              <a:rPr dirty="0" sz="2500" spc="-195">
                <a:solidFill>
                  <a:srgbClr val="181818"/>
                </a:solidFill>
                <a:latin typeface="Lucida Sans Unicode"/>
                <a:cs typeface="Lucida Sans Unicode"/>
              </a:rPr>
              <a:t>identlied,</a:t>
            </a:r>
            <a:r>
              <a:rPr dirty="0" sz="2500" spc="-75">
                <a:solidFill>
                  <a:srgbClr val="181818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0">
                <a:solidFill>
                  <a:srgbClr val="282828"/>
                </a:solidFill>
                <a:latin typeface="Lucida Sans Unicode"/>
                <a:cs typeface="Lucida Sans Unicode"/>
              </a:rPr>
              <a:t>and</a:t>
            </a:r>
            <a:r>
              <a:rPr dirty="0" sz="2500" spc="-31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95">
                <a:solidFill>
                  <a:srgbClr val="282828"/>
                </a:solidFill>
                <a:latin typeface="Lucida Sans Unicode"/>
                <a:cs typeface="Lucida Sans Unicode"/>
              </a:rPr>
              <a:t>our</a:t>
            </a:r>
            <a:r>
              <a:rPr dirty="0" sz="2500" spc="-305">
                <a:solidFill>
                  <a:srgbClr val="282828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80">
                <a:solidFill>
                  <a:srgbClr val="1A1A1A"/>
                </a:solidFill>
                <a:latin typeface="Lucida Sans Unicode"/>
                <a:cs typeface="Lucida Sans Unicode"/>
              </a:rPr>
              <a:t>proposed</a:t>
            </a:r>
            <a:r>
              <a:rPr dirty="0" sz="2500" spc="-11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75">
                <a:solidFill>
                  <a:srgbClr val="181818"/>
                </a:solidFill>
                <a:latin typeface="Lucida Sans Unicode"/>
                <a:cs typeface="Lucida Sans Unicode"/>
              </a:rPr>
              <a:t>augmentations.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3085864" y="383285"/>
            <a:ext cx="2884170" cy="8559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50">
                <a:solidFill>
                  <a:srgbClr val="0860B1"/>
                </a:solidFill>
                <a:latin typeface="Lucida Sans Unicode"/>
                <a:cs typeface="Lucida Sans Unicode"/>
              </a:rPr>
              <a:t>I</a:t>
            </a:r>
            <a:r>
              <a:rPr dirty="0" sz="5450" spc="-225">
                <a:solidFill>
                  <a:srgbClr val="0860B1"/>
                </a:solidFill>
                <a:latin typeface="Lucida Sans Unicode"/>
                <a:cs typeface="Lucida Sans Unicode"/>
              </a:rPr>
              <a:t> </a:t>
            </a:r>
            <a:r>
              <a:rPr dirty="0" sz="5450" spc="-520">
                <a:solidFill>
                  <a:srgbClr val="005EAA"/>
                </a:solidFill>
                <a:latin typeface="Lucida Sans Unicode"/>
                <a:cs typeface="Lucida Sans Unicode"/>
              </a:rPr>
              <a:t>M</a:t>
            </a:r>
            <a:r>
              <a:rPr dirty="0" sz="5450" spc="695">
                <a:solidFill>
                  <a:srgbClr val="005EAA"/>
                </a:solidFill>
                <a:latin typeface="Lucida Sans Unicode"/>
                <a:cs typeface="Lucida Sans Unicode"/>
              </a:rPr>
              <a:t> </a:t>
            </a:r>
            <a:r>
              <a:rPr dirty="0" sz="5450">
                <a:solidFill>
                  <a:srgbClr val="0064B5"/>
                </a:solidFill>
                <a:latin typeface="Lucida Sans Unicode"/>
                <a:cs typeface="Lucida Sans Unicode"/>
              </a:rPr>
              <a:t>A</a:t>
            </a:r>
            <a:r>
              <a:rPr dirty="0" sz="5450" spc="-229">
                <a:solidFill>
                  <a:srgbClr val="0064B5"/>
                </a:solidFill>
                <a:latin typeface="Lucida Sans Unicode"/>
                <a:cs typeface="Lucida Sans Unicode"/>
              </a:rPr>
              <a:t> </a:t>
            </a:r>
            <a:r>
              <a:rPr dirty="0" sz="5450" spc="-865">
                <a:solidFill>
                  <a:srgbClr val="0164B5"/>
                </a:solidFill>
                <a:latin typeface="Lucida Sans Unicode"/>
                <a:cs typeface="Lucida Sans Unicode"/>
              </a:rPr>
              <a:t>T</a:t>
            </a:r>
            <a:r>
              <a:rPr dirty="0" sz="5450" spc="195">
                <a:solidFill>
                  <a:srgbClr val="0164B5"/>
                </a:solidFill>
                <a:latin typeface="Lucida Sans Unicode"/>
                <a:cs typeface="Lucida Sans Unicode"/>
              </a:rPr>
              <a:t> </a:t>
            </a:r>
            <a:r>
              <a:rPr dirty="0" sz="5450" spc="-50">
                <a:solidFill>
                  <a:srgbClr val="0062AC"/>
                </a:solidFill>
                <a:latin typeface="Lucida Sans Unicode"/>
                <a:cs typeface="Lucida Sans Unicode"/>
              </a:rPr>
              <a:t>S</a:t>
            </a:r>
            <a:endParaRPr sz="54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60426" y="1150619"/>
            <a:ext cx="356362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330">
                <a:solidFill>
                  <a:srgbClr val="15629A"/>
                </a:solidFill>
                <a:latin typeface="Lucida Sans Unicode"/>
                <a:cs typeface="Lucida Sans Unicode"/>
              </a:rPr>
              <a:t>E</a:t>
            </a:r>
            <a:r>
              <a:rPr dirty="0" sz="3800" spc="-720">
                <a:solidFill>
                  <a:srgbClr val="15629A"/>
                </a:solidFill>
                <a:latin typeface="Lucida Sans Unicode"/>
                <a:cs typeface="Lucida Sans Unicode"/>
              </a:rPr>
              <a:t> </a:t>
            </a:r>
            <a:r>
              <a:rPr dirty="0" sz="3800" spc="200">
                <a:solidFill>
                  <a:srgbClr val="085EA5"/>
                </a:solidFill>
                <a:latin typeface="Lucida Sans Unicode"/>
                <a:cs typeface="Lucida Sans Unicode"/>
              </a:rPr>
              <a:t>N</a:t>
            </a:r>
            <a:r>
              <a:rPr dirty="0" sz="3800" spc="200">
                <a:solidFill>
                  <a:srgbClr val="155D97"/>
                </a:solidFill>
                <a:latin typeface="Lucida Sans Unicode"/>
                <a:cs typeface="Lucida Sans Unicode"/>
              </a:rPr>
              <a:t>GI</a:t>
            </a:r>
            <a:r>
              <a:rPr dirty="0" sz="3800" spc="-680">
                <a:solidFill>
                  <a:srgbClr val="155D97"/>
                </a:solidFill>
                <a:latin typeface="Lucida Sans Unicode"/>
                <a:cs typeface="Lucida Sans Unicode"/>
              </a:rPr>
              <a:t> </a:t>
            </a:r>
            <a:r>
              <a:rPr dirty="0" sz="3800" spc="50">
                <a:solidFill>
                  <a:srgbClr val="0E66A5"/>
                </a:solidFill>
                <a:latin typeface="Lucida Sans Unicode"/>
                <a:cs typeface="Lucida Sans Unicode"/>
              </a:rPr>
              <a:t>N</a:t>
            </a:r>
            <a:r>
              <a:rPr dirty="0" sz="3800" spc="50">
                <a:solidFill>
                  <a:srgbClr val="0E5E9A"/>
                </a:solidFill>
                <a:latin typeface="Lucida Sans Unicode"/>
                <a:cs typeface="Lucida Sans Unicode"/>
              </a:rPr>
              <a:t>E</a:t>
            </a:r>
            <a:r>
              <a:rPr dirty="0" sz="3800" spc="-720">
                <a:solidFill>
                  <a:srgbClr val="0E5E9A"/>
                </a:solidFill>
                <a:latin typeface="Lucida Sans Unicode"/>
                <a:cs typeface="Lucida Sans Unicode"/>
              </a:rPr>
              <a:t> </a:t>
            </a:r>
            <a:r>
              <a:rPr dirty="0" sz="3800" spc="195">
                <a:solidFill>
                  <a:srgbClr val="186297"/>
                </a:solidFill>
                <a:latin typeface="Lucida Sans Unicode"/>
                <a:cs typeface="Lucida Sans Unicode"/>
              </a:rPr>
              <a:t>ERI</a:t>
            </a:r>
            <a:r>
              <a:rPr dirty="0" sz="3800" spc="195">
                <a:solidFill>
                  <a:srgbClr val="0A66AC"/>
                </a:solidFill>
                <a:latin typeface="Lucida Sans Unicode"/>
                <a:cs typeface="Lucida Sans Unicode"/>
              </a:rPr>
              <a:t>N</a:t>
            </a:r>
            <a:r>
              <a:rPr dirty="0" sz="3800" spc="195">
                <a:solidFill>
                  <a:srgbClr val="0F5B91"/>
                </a:solidFill>
                <a:latin typeface="Lucida Sans Unicode"/>
                <a:cs typeface="Lucida Sans Unicode"/>
              </a:rPr>
              <a:t>G</a:t>
            </a:r>
            <a:endParaRPr sz="3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429000"/>
            <a:ext cx="5114924" cy="6172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5112" y="3429000"/>
            <a:ext cx="10929937" cy="59790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200" y="3600450"/>
            <a:ext cx="742949" cy="742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72287" y="3600450"/>
            <a:ext cx="742949" cy="7429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5850" y="3657600"/>
            <a:ext cx="742949" cy="7429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4500" y="3771900"/>
            <a:ext cx="400049" cy="314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65168" y="3800475"/>
            <a:ext cx="357187" cy="3143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0162" y="3886200"/>
            <a:ext cx="314324" cy="3143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28670" y="4350244"/>
            <a:ext cx="4285615" cy="452120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Automate</a:t>
            </a:r>
            <a:r>
              <a:rPr dirty="0" sz="3000" spc="-18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Operations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Develop</a:t>
            </a:r>
            <a:r>
              <a:rPr dirty="0" sz="3000" spc="15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</a:t>
            </a:r>
            <a:r>
              <a:rPr dirty="0" sz="3000" spc="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software</a:t>
            </a:r>
            <a:r>
              <a:rPr dirty="0" sz="3000" spc="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64738B"/>
                </a:solidFill>
                <a:latin typeface="Tahoma"/>
                <a:cs typeface="Tahoma"/>
              </a:rPr>
              <a:t>core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to</a:t>
            </a:r>
            <a:r>
              <a:rPr dirty="0" sz="3000" spc="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handle</a:t>
            </a:r>
            <a:r>
              <a:rPr dirty="0" sz="3000" spc="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book</a:t>
            </a:r>
            <a:r>
              <a:rPr dirty="0" sz="3000" spc="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issuance,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return</a:t>
            </a:r>
            <a:r>
              <a:rPr dirty="0" sz="3000" spc="1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tracking,</a:t>
            </a:r>
            <a:r>
              <a:rPr dirty="0" sz="3000" spc="1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member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authentication,</a:t>
            </a:r>
            <a:r>
              <a:rPr dirty="0" sz="3000" spc="34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catalog</a:t>
            </a:r>
            <a:r>
              <a:rPr dirty="0" sz="3000" spc="17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searches seamlessly.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66731" y="4298153"/>
            <a:ext cx="4154170" cy="452120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Digital</a:t>
            </a:r>
            <a:r>
              <a:rPr dirty="0" sz="3000" spc="-13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Cataloging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Implement</a:t>
            </a:r>
            <a:r>
              <a:rPr dirty="0" sz="3000" spc="-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structured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data</a:t>
            </a:r>
            <a:r>
              <a:rPr dirty="0" sz="3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models</a:t>
            </a:r>
            <a:r>
              <a:rPr dirty="0" sz="3000" spc="-1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dirty="0" sz="30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digital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r>
              <a:rPr dirty="0" sz="3000" spc="-1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including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eBooks,</a:t>
            </a:r>
            <a:r>
              <a:rPr dirty="0" sz="3000" spc="-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journal</a:t>
            </a:r>
            <a:r>
              <a:rPr dirty="0" sz="3000" spc="-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PDFs,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lecture</a:t>
            </a:r>
            <a:r>
              <a:rPr dirty="0" sz="3000" spc="-13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notes,</a:t>
            </a:r>
            <a:r>
              <a:rPr dirty="0" sz="3000" spc="-13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 spc="-13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media files.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03149" y="4314821"/>
            <a:ext cx="4084954" cy="397827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224790">
              <a:lnSpc>
                <a:spcPct val="102099"/>
              </a:lnSpc>
              <a:spcBef>
                <a:spcPts val="2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Paperless</a:t>
            </a:r>
            <a:r>
              <a:rPr dirty="0" sz="3000" spc="-16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0D1729"/>
                </a:solidFill>
                <a:latin typeface="Arial MT"/>
                <a:cs typeface="Arial MT"/>
              </a:rPr>
              <a:t>Governance </a:t>
            </a:r>
            <a:r>
              <a:rPr dirty="0" sz="3000" spc="70">
                <a:solidFill>
                  <a:srgbClr val="64738B"/>
                </a:solidFill>
                <a:latin typeface="Tahoma"/>
                <a:cs typeface="Tahoma"/>
              </a:rPr>
              <a:t>Enforce</a:t>
            </a:r>
            <a:r>
              <a:rPr dirty="0" sz="3000" spc="1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85">
                <a:solidFill>
                  <a:srgbClr val="64738B"/>
                </a:solidFill>
                <a:latin typeface="Tahoma"/>
                <a:cs typeface="Tahoma"/>
              </a:rPr>
              <a:t>file-</a:t>
            </a:r>
            <a:r>
              <a:rPr dirty="0" sz="3000" spc="40">
                <a:solidFill>
                  <a:srgbClr val="64738B"/>
                </a:solidFill>
                <a:latin typeface="Tahoma"/>
                <a:cs typeface="Tahoma"/>
              </a:rPr>
              <a:t>based </a:t>
            </a:r>
            <a:r>
              <a:rPr dirty="0" sz="3000" spc="60">
                <a:solidFill>
                  <a:srgbClr val="64738B"/>
                </a:solidFill>
                <a:latin typeface="Tahoma"/>
                <a:cs typeface="Tahoma"/>
              </a:rPr>
              <a:t>dynamic</a:t>
            </a:r>
            <a:r>
              <a:rPr dirty="0" sz="3000" spc="1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64738B"/>
                </a:solidFill>
                <a:latin typeface="Tahoma"/>
                <a:cs typeface="Tahoma"/>
              </a:rPr>
              <a:t>storage,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rule-based</a:t>
            </a:r>
            <a:r>
              <a:rPr dirty="0" sz="3000" spc="31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dirty="0" sz="3000" spc="31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access,</a:t>
            </a:r>
            <a:endParaRPr sz="3000">
              <a:latin typeface="Tahoma"/>
              <a:cs typeface="Tahoma"/>
            </a:endParaRPr>
          </a:p>
          <a:p>
            <a:pPr marL="12700" marR="92075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 spc="13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operational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transparency</a:t>
            </a:r>
            <a:r>
              <a:rPr dirty="0" sz="3000" spc="3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across</a:t>
            </a:r>
            <a:r>
              <a:rPr dirty="0" sz="3000" spc="3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all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administrative</a:t>
            </a:r>
            <a:r>
              <a:rPr dirty="0" sz="3000" spc="54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tiers.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4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90">
                <a:solidFill>
                  <a:srgbClr val="0D1729"/>
                </a:solidFill>
              </a:rPr>
              <a:t>System</a:t>
            </a:r>
            <a:r>
              <a:rPr dirty="0" sz="4800" spc="-375">
                <a:solidFill>
                  <a:srgbClr val="0D1729"/>
                </a:solidFill>
              </a:rPr>
              <a:t> </a:t>
            </a:r>
            <a:r>
              <a:rPr dirty="0" sz="4800" spc="-180">
                <a:solidFill>
                  <a:srgbClr val="0D1729"/>
                </a:solidFill>
              </a:rPr>
              <a:t>Objectives</a:t>
            </a:r>
            <a:endParaRPr sz="4800"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555" y="3963714"/>
            <a:ext cx="8035861" cy="58650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4030" y="3912098"/>
            <a:ext cx="8035861" cy="58650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162" y="4397873"/>
            <a:ext cx="271462" cy="3138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36943" y="4397873"/>
            <a:ext cx="400049" cy="314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762" y="4974678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762" y="5889078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762" y="6803478"/>
            <a:ext cx="123825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762" y="7717878"/>
            <a:ext cx="123825" cy="1238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68412" y="4295228"/>
            <a:ext cx="6226175" cy="415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82C7"/>
                </a:solidFill>
                <a:latin typeface="Arial MT"/>
                <a:cs typeface="Arial MT"/>
              </a:rPr>
              <a:t>Legacy</a:t>
            </a:r>
            <a:r>
              <a:rPr dirty="0" sz="3000" spc="-130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082C7"/>
                </a:solidFill>
                <a:latin typeface="Arial MT"/>
                <a:cs typeface="Arial MT"/>
              </a:rPr>
              <a:t>Manual</a:t>
            </a:r>
            <a:r>
              <a:rPr dirty="0" sz="3000" spc="-114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082C7"/>
                </a:solidFill>
                <a:latin typeface="Arial MT"/>
                <a:cs typeface="Arial MT"/>
              </a:rPr>
              <a:t>System</a:t>
            </a:r>
            <a:endParaRPr sz="3000">
              <a:latin typeface="Arial MT"/>
              <a:cs typeface="Arial MT"/>
            </a:endParaRPr>
          </a:p>
          <a:p>
            <a:pPr marL="574040" marR="489584">
              <a:lnSpc>
                <a:spcPct val="100000"/>
              </a:lnSpc>
              <a:spcBef>
                <a:spcPts val="150"/>
              </a:spcBef>
            </a:pP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Physical</a:t>
            </a:r>
            <a:r>
              <a:rPr dirty="0" sz="3000" spc="34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ledger</a:t>
            </a:r>
            <a:r>
              <a:rPr dirty="0" sz="3000" spc="3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registers</a:t>
            </a:r>
            <a:r>
              <a:rPr dirty="0" sz="3000" spc="3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55369"/>
                </a:solidFill>
                <a:latin typeface="Tahoma"/>
                <a:cs typeface="Tahoma"/>
              </a:rPr>
              <a:t>for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book</a:t>
            </a:r>
            <a:r>
              <a:rPr dirty="0" sz="3000" spc="2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borrowing</a:t>
            </a:r>
            <a:r>
              <a:rPr dirty="0" sz="3000" spc="24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3000" spc="24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returns.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Manual</a:t>
            </a:r>
            <a:r>
              <a:rPr dirty="0" sz="3000" spc="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card</a:t>
            </a:r>
            <a:r>
              <a:rPr dirty="0" sz="3000" spc="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catalog</a:t>
            </a:r>
            <a:r>
              <a:rPr dirty="0" sz="3000" spc="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searching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leading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to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slow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discovery.</a:t>
            </a:r>
            <a:endParaRPr sz="3000">
              <a:latin typeface="Tahoma"/>
              <a:cs typeface="Tahoma"/>
            </a:endParaRPr>
          </a:p>
          <a:p>
            <a:pPr marL="574040" marR="1292860">
              <a:lnSpc>
                <a:spcPct val="100000"/>
              </a:lnSpc>
            </a:pP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High</a:t>
            </a:r>
            <a:r>
              <a:rPr dirty="0" sz="3000" spc="4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risk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of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physical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455369"/>
                </a:solidFill>
                <a:latin typeface="Tahoma"/>
                <a:cs typeface="Tahoma"/>
              </a:rPr>
              <a:t>book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damage,</a:t>
            </a:r>
            <a:r>
              <a:rPr dirty="0" sz="3000" spc="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theft,</a:t>
            </a:r>
            <a:r>
              <a:rPr dirty="0" sz="3000" spc="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3000" spc="4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loss.</a:t>
            </a:r>
            <a:endParaRPr sz="3000">
              <a:latin typeface="Tahoma"/>
              <a:cs typeface="Tahoma"/>
            </a:endParaRPr>
          </a:p>
          <a:p>
            <a:pPr marL="574040" marR="5080">
              <a:lnSpc>
                <a:spcPct val="100000"/>
              </a:lnSpc>
            </a:pP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Zero</a:t>
            </a:r>
            <a:r>
              <a:rPr dirty="0" sz="3000" spc="7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real-time</a:t>
            </a:r>
            <a:r>
              <a:rPr dirty="0" sz="3000" spc="7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metric</a:t>
            </a:r>
            <a:r>
              <a:rPr dirty="0" sz="3000" spc="7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updates</a:t>
            </a:r>
            <a:r>
              <a:rPr dirty="0" sz="3000" spc="7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55369"/>
                </a:solidFill>
                <a:latin typeface="Tahoma"/>
                <a:cs typeface="Tahoma"/>
              </a:rPr>
              <a:t>for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library</a:t>
            </a:r>
            <a:r>
              <a:rPr dirty="0" sz="3000" spc="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managers.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5543" y="4974678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5543" y="5889078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5543" y="6803478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5543" y="7717878"/>
            <a:ext cx="123825" cy="1238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805193" y="4295228"/>
            <a:ext cx="6478905" cy="415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25">
                <a:solidFill>
                  <a:srgbClr val="0082C7"/>
                </a:solidFill>
                <a:latin typeface="Arial MT"/>
                <a:cs typeface="Arial MT"/>
              </a:rPr>
              <a:t>Proposed</a:t>
            </a:r>
            <a:r>
              <a:rPr dirty="0" sz="3000" spc="-220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3000" spc="-125">
                <a:solidFill>
                  <a:srgbClr val="0082C7"/>
                </a:solidFill>
                <a:latin typeface="Arial MT"/>
                <a:cs typeface="Arial MT"/>
              </a:rPr>
              <a:t>Digital</a:t>
            </a:r>
            <a:r>
              <a:rPr dirty="0" sz="3000" spc="-220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082C7"/>
                </a:solidFill>
                <a:latin typeface="Arial MT"/>
                <a:cs typeface="Arial MT"/>
              </a:rPr>
              <a:t>System</a:t>
            </a:r>
            <a:endParaRPr sz="3000">
              <a:latin typeface="Arial MT"/>
              <a:cs typeface="Arial MT"/>
            </a:endParaRPr>
          </a:p>
          <a:p>
            <a:pPr marL="574040" marR="5080">
              <a:lnSpc>
                <a:spcPct val="100000"/>
              </a:lnSpc>
              <a:spcBef>
                <a:spcPts val="150"/>
              </a:spcBef>
            </a:pPr>
            <a:r>
              <a:rPr dirty="0" sz="3000" spc="-130">
                <a:solidFill>
                  <a:srgbClr val="455369"/>
                </a:solidFill>
                <a:latin typeface="Tahoma"/>
                <a:cs typeface="Tahoma"/>
              </a:rPr>
              <a:t>Instant</a:t>
            </a:r>
            <a:r>
              <a:rPr dirty="0" sz="3000" spc="-2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45">
                <a:solidFill>
                  <a:srgbClr val="455369"/>
                </a:solidFill>
                <a:latin typeface="Tahoma"/>
                <a:cs typeface="Tahoma"/>
              </a:rPr>
              <a:t>console-</a:t>
            </a:r>
            <a:r>
              <a:rPr dirty="0" sz="3000" spc="-125">
                <a:solidFill>
                  <a:srgbClr val="455369"/>
                </a:solidFill>
                <a:latin typeface="Tahoma"/>
                <a:cs typeface="Tahoma"/>
              </a:rPr>
              <a:t>based</a:t>
            </a:r>
            <a:r>
              <a:rPr dirty="0" sz="3000" spc="-21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20">
                <a:solidFill>
                  <a:srgbClr val="455369"/>
                </a:solidFill>
                <a:latin typeface="Tahoma"/>
                <a:cs typeface="Tahoma"/>
              </a:rPr>
              <a:t>OPAC</a:t>
            </a:r>
            <a:r>
              <a:rPr dirty="0" sz="3000" spc="-2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30">
                <a:solidFill>
                  <a:srgbClr val="455369"/>
                </a:solidFill>
                <a:latin typeface="Tahoma"/>
                <a:cs typeface="Tahoma"/>
              </a:rPr>
              <a:t>search</a:t>
            </a:r>
            <a:r>
              <a:rPr dirty="0" sz="3000" spc="-21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55369"/>
                </a:solidFill>
                <a:latin typeface="Tahoma"/>
                <a:cs typeface="Tahoma"/>
              </a:rPr>
              <a:t>by </a:t>
            </a:r>
            <a:r>
              <a:rPr dirty="0" sz="3000" spc="-125">
                <a:solidFill>
                  <a:srgbClr val="455369"/>
                </a:solidFill>
                <a:latin typeface="Tahoma"/>
                <a:cs typeface="Tahoma"/>
              </a:rPr>
              <a:t>title,</a:t>
            </a:r>
            <a:r>
              <a:rPr dirty="0" sz="3000" spc="-2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30">
                <a:solidFill>
                  <a:srgbClr val="455369"/>
                </a:solidFill>
                <a:latin typeface="Tahoma"/>
                <a:cs typeface="Tahoma"/>
              </a:rPr>
              <a:t>author,</a:t>
            </a:r>
            <a:r>
              <a:rPr dirty="0" sz="3000" spc="-2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75">
                <a:solidFill>
                  <a:srgbClr val="455369"/>
                </a:solidFill>
                <a:latin typeface="Tahoma"/>
                <a:cs typeface="Tahoma"/>
              </a:rPr>
              <a:t>or</a:t>
            </a:r>
            <a:r>
              <a:rPr dirty="0" sz="3000" spc="-2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455369"/>
                </a:solidFill>
                <a:latin typeface="Tahoma"/>
                <a:cs typeface="Tahoma"/>
              </a:rPr>
              <a:t>tag.</a:t>
            </a:r>
            <a:endParaRPr sz="3000">
              <a:latin typeface="Tahoma"/>
              <a:cs typeface="Tahoma"/>
            </a:endParaRPr>
          </a:p>
          <a:p>
            <a:pPr marL="574040" marR="608330">
              <a:lnSpc>
                <a:spcPct val="100000"/>
              </a:lnSpc>
            </a:pPr>
            <a:r>
              <a:rPr dirty="0" sz="3000" spc="-140">
                <a:solidFill>
                  <a:srgbClr val="455369"/>
                </a:solidFill>
                <a:latin typeface="Tahoma"/>
                <a:cs typeface="Tahoma"/>
              </a:rPr>
              <a:t>Automated</a:t>
            </a:r>
            <a:r>
              <a:rPr dirty="0" sz="3000" spc="-20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30">
                <a:solidFill>
                  <a:srgbClr val="455369"/>
                </a:solidFill>
                <a:latin typeface="Tahoma"/>
                <a:cs typeface="Tahoma"/>
              </a:rPr>
              <a:t>license</a:t>
            </a:r>
            <a:r>
              <a:rPr dirty="0" sz="3000" spc="-20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40">
                <a:solidFill>
                  <a:srgbClr val="455369"/>
                </a:solidFill>
                <a:latin typeface="Tahoma"/>
                <a:cs typeface="Tahoma"/>
              </a:rPr>
              <a:t>management</a:t>
            </a:r>
            <a:r>
              <a:rPr dirty="0" sz="3000" spc="-20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50">
                <a:solidFill>
                  <a:srgbClr val="455369"/>
                </a:solidFill>
                <a:latin typeface="Tahoma"/>
                <a:cs typeface="Tahoma"/>
              </a:rPr>
              <a:t>&amp; </a:t>
            </a:r>
            <a:r>
              <a:rPr dirty="0" sz="3000" spc="-140">
                <a:solidFill>
                  <a:srgbClr val="455369"/>
                </a:solidFill>
                <a:latin typeface="Tahoma"/>
                <a:cs typeface="Tahoma"/>
              </a:rPr>
              <a:t>concurrency</a:t>
            </a:r>
            <a:r>
              <a:rPr dirty="0" sz="3000" spc="-19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tracking.</a:t>
            </a:r>
            <a:endParaRPr sz="3000">
              <a:latin typeface="Tahoma"/>
              <a:cs typeface="Tahoma"/>
            </a:endParaRPr>
          </a:p>
          <a:p>
            <a:pPr marL="574040" marR="775970">
              <a:lnSpc>
                <a:spcPct val="100000"/>
              </a:lnSpc>
            </a:pP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Persistent</a:t>
            </a:r>
            <a:r>
              <a:rPr dirty="0" sz="30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binary/text</a:t>
            </a:r>
            <a:r>
              <a:rPr dirty="0" sz="30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file</a:t>
            </a:r>
            <a:r>
              <a:rPr dirty="0" sz="3000" spc="9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455369"/>
                </a:solidFill>
                <a:latin typeface="Tahoma"/>
                <a:cs typeface="Tahoma"/>
              </a:rPr>
              <a:t>data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logging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for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zero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data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loss.</a:t>
            </a:r>
            <a:endParaRPr sz="3000">
              <a:latin typeface="Tahoma"/>
              <a:cs typeface="Tahoma"/>
            </a:endParaRPr>
          </a:p>
          <a:p>
            <a:pPr marL="574040" marR="85090">
              <a:lnSpc>
                <a:spcPct val="100000"/>
              </a:lnSpc>
            </a:pP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Automated</a:t>
            </a:r>
            <a:r>
              <a:rPr dirty="0" sz="3000" spc="3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analytics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on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borrowing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trends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3000" spc="4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55369"/>
                </a:solidFill>
                <a:latin typeface="Tahoma"/>
                <a:cs typeface="Tahoma"/>
              </a:rPr>
              <a:t>user</a:t>
            </a:r>
            <a:r>
              <a:rPr dirty="0" sz="3000" spc="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55369"/>
                </a:solidFill>
                <a:latin typeface="Tahoma"/>
                <a:cs typeface="Tahoma"/>
              </a:rPr>
              <a:t>access.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996950" y="2835455"/>
            <a:ext cx="6188075" cy="60833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40">
                <a:solidFill>
                  <a:srgbClr val="0D1729"/>
                </a:solidFill>
              </a:rPr>
              <a:t>Existing</a:t>
            </a:r>
            <a:r>
              <a:rPr dirty="0" sz="3800" spc="-240">
                <a:solidFill>
                  <a:srgbClr val="0D1729"/>
                </a:solidFill>
              </a:rPr>
              <a:t> </a:t>
            </a:r>
            <a:r>
              <a:rPr dirty="0" sz="3800" spc="-105">
                <a:solidFill>
                  <a:srgbClr val="0D1729"/>
                </a:solidFill>
              </a:rPr>
              <a:t>vs.</a:t>
            </a:r>
            <a:r>
              <a:rPr dirty="0" sz="3800" spc="-240">
                <a:solidFill>
                  <a:srgbClr val="0D1729"/>
                </a:solidFill>
              </a:rPr>
              <a:t> </a:t>
            </a:r>
            <a:r>
              <a:rPr dirty="0" sz="3800" spc="-140">
                <a:solidFill>
                  <a:srgbClr val="0D1729"/>
                </a:solidFill>
              </a:rPr>
              <a:t>Automated</a:t>
            </a:r>
            <a:r>
              <a:rPr dirty="0" sz="3800" spc="-235">
                <a:solidFill>
                  <a:srgbClr val="0D1729"/>
                </a:solidFill>
              </a:rPr>
              <a:t> </a:t>
            </a:r>
            <a:r>
              <a:rPr dirty="0" sz="3800" spc="-65">
                <a:solidFill>
                  <a:srgbClr val="0D1729"/>
                </a:solidFill>
              </a:rPr>
              <a:t>System</a:t>
            </a:r>
            <a:endParaRPr sz="3800"/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4991919"/>
            <a:ext cx="157162" cy="21142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25500" y="2071417"/>
            <a:ext cx="59797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65">
                <a:solidFill>
                  <a:srgbClr val="0D1729"/>
                </a:solidFill>
              </a:rPr>
              <a:t>Proposed</a:t>
            </a:r>
            <a:r>
              <a:rPr dirty="0" sz="4200" spc="-270">
                <a:solidFill>
                  <a:srgbClr val="0D1729"/>
                </a:solidFill>
              </a:rPr>
              <a:t> </a:t>
            </a:r>
            <a:r>
              <a:rPr dirty="0" sz="4200" spc="-125">
                <a:solidFill>
                  <a:srgbClr val="0D1729"/>
                </a:solidFill>
              </a:rPr>
              <a:t>C++</a:t>
            </a:r>
            <a:r>
              <a:rPr dirty="0" sz="4200" spc="-270">
                <a:solidFill>
                  <a:srgbClr val="0D1729"/>
                </a:solidFill>
              </a:rPr>
              <a:t> </a:t>
            </a:r>
            <a:r>
              <a:rPr dirty="0" sz="4200" spc="-130">
                <a:solidFill>
                  <a:srgbClr val="0D1729"/>
                </a:solidFill>
              </a:rPr>
              <a:t>Architecture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825500" y="3264532"/>
            <a:ext cx="7028180" cy="558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6725">
              <a:lnSpc>
                <a:spcPct val="156200"/>
              </a:lnSpc>
              <a:spcBef>
                <a:spcPts val="100"/>
              </a:spcBef>
            </a:pP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The</a:t>
            </a:r>
            <a:r>
              <a:rPr dirty="0" sz="2400" spc="-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proposed</a:t>
            </a:r>
            <a:r>
              <a:rPr dirty="0" sz="2400" spc="-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Digital</a:t>
            </a:r>
            <a:r>
              <a:rPr dirty="0" sz="2400" spc="-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Library</a:t>
            </a:r>
            <a:r>
              <a:rPr dirty="0" sz="2400" spc="-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&amp;</a:t>
            </a:r>
            <a:r>
              <a:rPr dirty="0" sz="2400" spc="-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Paperless</a:t>
            </a:r>
            <a:r>
              <a:rPr dirty="0" sz="2400" spc="-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5369"/>
                </a:solidFill>
                <a:latin typeface="Tahoma"/>
                <a:cs typeface="Tahoma"/>
              </a:rPr>
              <a:t>System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offers</a:t>
            </a:r>
            <a:r>
              <a:rPr dirty="0" sz="2400" spc="-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a</a:t>
            </a:r>
            <a:r>
              <a:rPr dirty="0" sz="2400" spc="-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lightweight, high-performance</a:t>
            </a:r>
            <a:r>
              <a:rPr dirty="0" sz="2400" spc="-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455369"/>
                </a:solidFill>
                <a:latin typeface="Tahoma"/>
                <a:cs typeface="Tahoma"/>
              </a:rPr>
              <a:t>console</a:t>
            </a:r>
            <a:endParaRPr sz="2400">
              <a:latin typeface="Tahoma"/>
              <a:cs typeface="Tahoma"/>
            </a:endParaRPr>
          </a:p>
          <a:p>
            <a:pPr marL="12700" marR="275590">
              <a:lnSpc>
                <a:spcPct val="156200"/>
              </a:lnSpc>
            </a:pP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application</a:t>
            </a:r>
            <a:r>
              <a:rPr dirty="0" sz="2400" spc="-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engineered</a:t>
            </a:r>
            <a:r>
              <a:rPr dirty="0" sz="2400" spc="-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with</a:t>
            </a:r>
            <a:r>
              <a:rPr dirty="0" sz="2400" spc="-5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clean</a:t>
            </a:r>
            <a:r>
              <a:rPr dirty="0" sz="2400" spc="-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455369"/>
                </a:solidFill>
                <a:latin typeface="Tahoma"/>
                <a:cs typeface="Tahoma"/>
              </a:rPr>
              <a:t>Object-</a:t>
            </a:r>
            <a:r>
              <a:rPr dirty="0" sz="2400" spc="-10">
                <a:solidFill>
                  <a:srgbClr val="455369"/>
                </a:solidFill>
                <a:latin typeface="Tahoma"/>
                <a:cs typeface="Tahoma"/>
              </a:rPr>
              <a:t>Oriented Principles.</a:t>
            </a:r>
            <a:endParaRPr sz="2400">
              <a:latin typeface="Tahoma"/>
              <a:cs typeface="Tahoma"/>
            </a:endParaRPr>
          </a:p>
          <a:p>
            <a:pPr marL="12700" marR="375920">
              <a:lnSpc>
                <a:spcPct val="148400"/>
              </a:lnSpc>
              <a:spcBef>
                <a:spcPts val="150"/>
              </a:spcBef>
            </a:pPr>
            <a:r>
              <a:rPr dirty="0" sz="2400" spc="-30" b="1">
                <a:solidFill>
                  <a:srgbClr val="334053"/>
                </a:solidFill>
                <a:latin typeface="Tahoma"/>
                <a:cs typeface="Tahoma"/>
              </a:rPr>
              <a:t>Role-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Based</a:t>
            </a:r>
            <a:r>
              <a:rPr dirty="0" sz="24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Access:</a:t>
            </a:r>
            <a:r>
              <a:rPr dirty="0" sz="2400" spc="-12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Distinct</a:t>
            </a:r>
            <a:r>
              <a:rPr dirty="0" sz="2400" spc="-1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views</a:t>
            </a:r>
            <a:r>
              <a:rPr dirty="0" sz="24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2400" spc="-1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Students,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Faculty,</a:t>
            </a:r>
            <a:r>
              <a:rPr dirty="0" sz="2400" spc="-14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and</a:t>
            </a:r>
            <a:r>
              <a:rPr dirty="0" sz="24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System</a:t>
            </a:r>
            <a:r>
              <a:rPr dirty="0" sz="24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Administrators.</a:t>
            </a:r>
            <a:endParaRPr sz="2400">
              <a:latin typeface="Tahoma"/>
              <a:cs typeface="Tahoma"/>
            </a:endParaRPr>
          </a:p>
          <a:p>
            <a:pPr marL="12700" marR="24765">
              <a:lnSpc>
                <a:spcPct val="148400"/>
              </a:lnSpc>
              <a:spcBef>
                <a:spcPts val="5"/>
              </a:spcBef>
            </a:pP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File</a:t>
            </a:r>
            <a:r>
              <a:rPr dirty="0" sz="2400" spc="16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Processing</a:t>
            </a:r>
            <a:r>
              <a:rPr dirty="0" sz="2400" spc="1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Engine:</a:t>
            </a:r>
            <a:r>
              <a:rPr dirty="0" sz="2400" spc="1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Saves</a:t>
            </a:r>
            <a:r>
              <a:rPr dirty="0" sz="2400" spc="18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catalog</a:t>
            </a:r>
            <a:r>
              <a:rPr dirty="0" sz="2400" spc="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state</a:t>
            </a:r>
            <a:r>
              <a:rPr dirty="0" sz="2400" spc="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334053"/>
                </a:solidFill>
                <a:latin typeface="Tahoma"/>
                <a:cs typeface="Tahoma"/>
              </a:rPr>
              <a:t>and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transactional</a:t>
            </a:r>
            <a:r>
              <a:rPr dirty="0" sz="2400" spc="2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logs</a:t>
            </a:r>
            <a:r>
              <a:rPr dirty="0" sz="2400" spc="229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continuously</a:t>
            </a:r>
            <a:r>
              <a:rPr dirty="0" sz="2400" spc="229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to</a:t>
            </a:r>
            <a:r>
              <a:rPr dirty="0" sz="2400" spc="229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disk.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48400"/>
              </a:lnSpc>
            </a:pPr>
            <a:r>
              <a:rPr dirty="0" sz="2400" spc="75" b="1">
                <a:solidFill>
                  <a:srgbClr val="334053"/>
                </a:solidFill>
                <a:latin typeface="Tahoma"/>
                <a:cs typeface="Tahoma"/>
              </a:rPr>
              <a:t>Resource</a:t>
            </a:r>
            <a:r>
              <a:rPr dirty="0" sz="2400" spc="204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75" b="1">
                <a:solidFill>
                  <a:srgbClr val="334053"/>
                </a:solidFill>
                <a:latin typeface="Tahoma"/>
                <a:cs typeface="Tahoma"/>
              </a:rPr>
              <a:t>Indexer:</a:t>
            </a:r>
            <a:r>
              <a:rPr dirty="0" sz="2400" spc="204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334053"/>
                </a:solidFill>
                <a:latin typeface="Tahoma"/>
                <a:cs typeface="Tahoma"/>
              </a:rPr>
              <a:t>Fast</a:t>
            </a:r>
            <a:r>
              <a:rPr dirty="0" sz="2400" spc="21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75">
                <a:solidFill>
                  <a:srgbClr val="334053"/>
                </a:solidFill>
                <a:latin typeface="Tahoma"/>
                <a:cs typeface="Tahoma"/>
              </a:rPr>
              <a:t>lookup</a:t>
            </a:r>
            <a:r>
              <a:rPr dirty="0" sz="2400" spc="204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334053"/>
                </a:solidFill>
                <a:latin typeface="Tahoma"/>
                <a:cs typeface="Tahoma"/>
              </a:rPr>
              <a:t>using</a:t>
            </a:r>
            <a:r>
              <a:rPr dirty="0" sz="2400" spc="204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334053"/>
                </a:solidFill>
                <a:latin typeface="Tahoma"/>
                <a:cs typeface="Tahoma"/>
              </a:rPr>
              <a:t>dynamic </a:t>
            </a:r>
            <a:r>
              <a:rPr dirty="0" sz="2400" spc="75">
                <a:solidFill>
                  <a:srgbClr val="334053"/>
                </a:solidFill>
                <a:latin typeface="Tahoma"/>
                <a:cs typeface="Tahoma"/>
              </a:rPr>
              <a:t>vectors</a:t>
            </a:r>
            <a:r>
              <a:rPr dirty="0" sz="2400" spc="21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55">
                <a:solidFill>
                  <a:srgbClr val="334053"/>
                </a:solidFill>
                <a:latin typeface="Tahoma"/>
                <a:cs typeface="Tahoma"/>
              </a:rPr>
              <a:t>and</a:t>
            </a:r>
            <a:r>
              <a:rPr dirty="0" sz="2400" spc="21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334053"/>
                </a:solidFill>
                <a:latin typeface="Tahoma"/>
                <a:cs typeface="Tahoma"/>
              </a:rPr>
              <a:t>array</a:t>
            </a:r>
            <a:r>
              <a:rPr dirty="0" sz="2400" spc="21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334053"/>
                </a:solidFill>
                <a:latin typeface="Tahoma"/>
                <a:cs typeface="Tahoma"/>
              </a:rPr>
              <a:t>search</a:t>
            </a:r>
            <a:r>
              <a:rPr dirty="0" sz="2400" spc="21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334053"/>
                </a:solidFill>
                <a:latin typeface="Tahoma"/>
                <a:cs typeface="Tahoma"/>
              </a:rPr>
              <a:t>algorithms.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1100" y="1714500"/>
            <a:ext cx="9481470" cy="8572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49" y="50968"/>
            <a:ext cx="18231650" cy="1336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941" y="3862158"/>
            <a:ext cx="5333513" cy="2557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8165" y="3906964"/>
            <a:ext cx="10952893" cy="24730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465" y="6743700"/>
            <a:ext cx="5333513" cy="2557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7552" y="6743700"/>
            <a:ext cx="10952050" cy="26380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0150" y="4213469"/>
            <a:ext cx="299814" cy="2428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9824" y="4241800"/>
            <a:ext cx="229393" cy="2158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39497" y="4226957"/>
            <a:ext cx="214313" cy="2292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0150" y="7214393"/>
            <a:ext cx="242887" cy="2293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19824" y="7213600"/>
            <a:ext cx="229393" cy="20240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52991" y="7213600"/>
            <a:ext cx="229393" cy="2024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68399" y="3879251"/>
            <a:ext cx="3230245" cy="1854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Module</a:t>
            </a:r>
            <a:r>
              <a:rPr dirty="0" sz="2100" spc="204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1:</a:t>
            </a:r>
            <a:r>
              <a:rPr dirty="0" sz="2100" spc="21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User</a:t>
            </a:r>
            <a:r>
              <a:rPr dirty="0" sz="2100" spc="21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0D1729"/>
                </a:solidFill>
                <a:latin typeface="Tahoma"/>
                <a:cs typeface="Tahoma"/>
              </a:rPr>
              <a:t>Mgmt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Handles</a:t>
            </a:r>
            <a:r>
              <a:rPr dirty="0" sz="2100" spc="33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student/faculty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accounts,</a:t>
            </a:r>
            <a:r>
              <a:rPr dirty="0" sz="2100" spc="2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dirty="0" sz="2100" spc="2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privileges,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2100" spc="2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active</a:t>
            </a:r>
            <a:r>
              <a:rPr dirty="0" sz="2100" spc="27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profile</a:t>
            </a:r>
            <a:r>
              <a:rPr dirty="0" sz="2100" spc="27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records.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415" y="6857365"/>
            <a:ext cx="4034790" cy="1854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Module</a:t>
            </a:r>
            <a:r>
              <a:rPr dirty="0" sz="2100" spc="14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4:</a:t>
            </a:r>
            <a:r>
              <a:rPr dirty="0" sz="2100" spc="145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Access</a:t>
            </a:r>
            <a:r>
              <a:rPr dirty="0" sz="2100" spc="14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0D1729"/>
                </a:solidFill>
                <a:latin typeface="Tahoma"/>
                <a:cs typeface="Tahoma"/>
              </a:rPr>
              <a:t>Control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Processes</a:t>
            </a:r>
            <a:r>
              <a:rPr dirty="0" sz="2100" spc="2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checkouts,</a:t>
            </a:r>
            <a:r>
              <a:rPr dirty="0" sz="2100" spc="2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active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download</a:t>
            </a:r>
            <a:r>
              <a:rPr dirty="0" sz="2100" spc="1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holds,</a:t>
            </a:r>
            <a:r>
              <a:rPr dirty="0" sz="2100" spc="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issue</a:t>
            </a:r>
            <a:r>
              <a:rPr dirty="0" sz="2100" spc="19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limits,</a:t>
            </a:r>
            <a:r>
              <a:rPr dirty="0" sz="2100" spc="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return</a:t>
            </a:r>
            <a:r>
              <a:rPr dirty="0" sz="2100" spc="17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schedules.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4995" y="3953605"/>
            <a:ext cx="4795520" cy="12827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100">
                <a:solidFill>
                  <a:srgbClr val="0D1729"/>
                </a:solidFill>
                <a:latin typeface="Arial MT"/>
                <a:cs typeface="Arial MT"/>
              </a:rPr>
              <a:t>Module</a:t>
            </a:r>
            <a:r>
              <a:rPr dirty="0" sz="2100" spc="-9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1729"/>
                </a:solidFill>
                <a:latin typeface="Arial MT"/>
                <a:cs typeface="Arial MT"/>
              </a:rPr>
              <a:t>2:</a:t>
            </a:r>
            <a:r>
              <a:rPr dirty="0" sz="2100" spc="-8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D1729"/>
                </a:solidFill>
                <a:latin typeface="Arial MT"/>
                <a:cs typeface="Arial MT"/>
              </a:rPr>
              <a:t>Classification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Auto-categorizes</a:t>
            </a:r>
            <a:r>
              <a:rPr dirty="0" sz="2100" spc="3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r>
              <a:rPr dirty="0" sz="2100" spc="4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dirty="0" sz="2100" spc="4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domain,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media</a:t>
            </a:r>
            <a:r>
              <a:rPr dirty="0" sz="2100" spc="24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type,</a:t>
            </a:r>
            <a:r>
              <a:rPr dirty="0" sz="2100" spc="2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tags,</a:t>
            </a:r>
            <a:r>
              <a:rPr dirty="0" sz="2100" spc="2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2100" spc="24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license</a:t>
            </a:r>
            <a:r>
              <a:rPr dirty="0" sz="2100" spc="2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type.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85317" y="6984297"/>
            <a:ext cx="4148454" cy="17399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2100">
                <a:solidFill>
                  <a:srgbClr val="0D1729"/>
                </a:solidFill>
                <a:latin typeface="Arial MT"/>
                <a:cs typeface="Arial MT"/>
              </a:rPr>
              <a:t>Module</a:t>
            </a:r>
            <a:r>
              <a:rPr dirty="0" sz="2100" spc="-9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1729"/>
                </a:solidFill>
                <a:latin typeface="Arial MT"/>
                <a:cs typeface="Arial MT"/>
              </a:rPr>
              <a:t>5:</a:t>
            </a:r>
            <a:r>
              <a:rPr dirty="0" sz="2100" spc="-8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D1729"/>
                </a:solidFill>
                <a:latin typeface="Arial MT"/>
                <a:cs typeface="Arial MT"/>
              </a:rPr>
              <a:t>Archiving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Organizes</a:t>
            </a:r>
            <a:r>
              <a:rPr dirty="0" sz="2100" spc="20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course</a:t>
            </a:r>
            <a:r>
              <a:rPr dirty="0" sz="2100" spc="20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readers</a:t>
            </a:r>
            <a:r>
              <a:rPr dirty="0" sz="2100" spc="20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,digital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ts val="3600"/>
              </a:lnSpc>
              <a:spcBef>
                <a:spcPts val="100"/>
              </a:spcBef>
            </a:pP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archives,</a:t>
            </a:r>
            <a:r>
              <a:rPr dirty="0" sz="2100" spc="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2100" spc="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paperless</a:t>
            </a:r>
            <a:r>
              <a:rPr dirty="0" sz="2100" spc="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document repositories.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61356" y="6835277"/>
            <a:ext cx="4715510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Module</a:t>
            </a:r>
            <a:r>
              <a:rPr dirty="0" sz="2100" spc="235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6:</a:t>
            </a:r>
            <a:r>
              <a:rPr dirty="0" sz="2100" spc="25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Admin</a:t>
            </a:r>
            <a:r>
              <a:rPr dirty="0" sz="2100" spc="245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D1729"/>
                </a:solidFill>
                <a:latin typeface="Tahoma"/>
                <a:cs typeface="Tahoma"/>
              </a:rPr>
              <a:t>Reports</a:t>
            </a:r>
            <a:r>
              <a:rPr dirty="0" sz="2100" spc="250">
                <a:solidFill>
                  <a:srgbClr val="0D172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Generates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usage</a:t>
            </a:r>
            <a:r>
              <a:rPr dirty="0" sz="2100" spc="4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stats,system</a:t>
            </a:r>
            <a:r>
              <a:rPr dirty="0" sz="2100" spc="4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errorlogs,</a:t>
            </a:r>
            <a:r>
              <a:rPr dirty="0" sz="2100" spc="4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overdue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reports,</a:t>
            </a:r>
            <a:r>
              <a:rPr dirty="0" sz="2100" spc="2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2100" spc="2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summary</a:t>
            </a:r>
            <a:r>
              <a:rPr dirty="0" sz="2100" spc="2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metrics.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07747" y="4051779"/>
            <a:ext cx="4009390" cy="1454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50"/>
              </a:spcBef>
            </a:pPr>
            <a:r>
              <a:rPr dirty="0" sz="2100" spc="-110">
                <a:solidFill>
                  <a:srgbClr val="0D1729"/>
                </a:solidFill>
                <a:latin typeface="Arial MT"/>
                <a:cs typeface="Arial MT"/>
              </a:rPr>
              <a:t>Module</a:t>
            </a:r>
            <a:r>
              <a:rPr dirty="0" sz="2100" spc="-20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 spc="-70">
                <a:solidFill>
                  <a:srgbClr val="0D1729"/>
                </a:solidFill>
                <a:latin typeface="Arial MT"/>
                <a:cs typeface="Arial MT"/>
              </a:rPr>
              <a:t>3:</a:t>
            </a:r>
            <a:r>
              <a:rPr dirty="0" sz="2100" spc="-19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 spc="-114">
                <a:solidFill>
                  <a:srgbClr val="0D1729"/>
                </a:solidFill>
                <a:latin typeface="Arial MT"/>
                <a:cs typeface="Arial MT"/>
              </a:rPr>
              <a:t>Resource</a:t>
            </a:r>
            <a:r>
              <a:rPr dirty="0" sz="2100" spc="-20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D1729"/>
                </a:solidFill>
                <a:latin typeface="Arial MT"/>
                <a:cs typeface="Arial MT"/>
              </a:rPr>
              <a:t>Engine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Maintains</a:t>
            </a:r>
            <a:r>
              <a:rPr dirty="0" sz="2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eBook</a:t>
            </a:r>
            <a:r>
              <a:rPr dirty="0" sz="2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inventories</a:t>
            </a:r>
            <a:r>
              <a:rPr dirty="0" sz="2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,file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URLs,</a:t>
            </a:r>
            <a:r>
              <a:rPr dirty="0" sz="21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copies</a:t>
            </a:r>
            <a:r>
              <a:rPr dirty="0" sz="2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available,</a:t>
            </a:r>
            <a:r>
              <a:rPr dirty="0" sz="2100" spc="-10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2100" spc="-1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64738B"/>
                </a:solidFill>
                <a:latin typeface="Tahoma"/>
                <a:cs typeface="Tahoma"/>
              </a:rPr>
              <a:t>access parameters.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357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125"/>
              </a:spcBef>
            </a:pPr>
            <a:r>
              <a:rPr dirty="0" sz="3800" spc="-165">
                <a:solidFill>
                  <a:srgbClr val="0D1729"/>
                </a:solidFill>
              </a:rPr>
              <a:t>System</a:t>
            </a:r>
            <a:r>
              <a:rPr dirty="0" sz="3800" spc="-330">
                <a:solidFill>
                  <a:srgbClr val="0D1729"/>
                </a:solidFill>
              </a:rPr>
              <a:t> </a:t>
            </a:r>
            <a:r>
              <a:rPr dirty="0" sz="3800" spc="-180">
                <a:solidFill>
                  <a:srgbClr val="0D1729"/>
                </a:solidFill>
              </a:rPr>
              <a:t>Architecture</a:t>
            </a:r>
            <a:r>
              <a:rPr dirty="0" sz="3800" spc="-32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&amp;</a:t>
            </a:r>
            <a:r>
              <a:rPr dirty="0" sz="3800" spc="-325">
                <a:solidFill>
                  <a:srgbClr val="0D1729"/>
                </a:solidFill>
              </a:rPr>
              <a:t> </a:t>
            </a:r>
            <a:r>
              <a:rPr dirty="0" sz="3800" spc="-105">
                <a:solidFill>
                  <a:srgbClr val="0D1729"/>
                </a:solidFill>
              </a:rPr>
              <a:t>Modules</a:t>
            </a:r>
            <a:endParaRPr sz="3800"/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18116116" cy="1573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0" y="4349333"/>
            <a:ext cx="342711" cy="2226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940" y="6315075"/>
            <a:ext cx="342900" cy="200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940" y="8229600"/>
            <a:ext cx="300037" cy="2000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8899" y="3922715"/>
            <a:ext cx="7009765" cy="551180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Account Creation: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Register new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students,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48100"/>
              </a:lnSpc>
            </a:pP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faculty members, and library staff with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unique credentials.</a:t>
            </a:r>
            <a:endParaRPr sz="2700">
              <a:latin typeface="Tahoma"/>
              <a:cs typeface="Tahoma"/>
            </a:endParaRPr>
          </a:p>
          <a:p>
            <a:pPr marL="12700" marR="405765">
              <a:lnSpc>
                <a:spcPct val="148100"/>
              </a:lnSpc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Role</a:t>
            </a:r>
            <a:r>
              <a:rPr dirty="0" sz="2700" spc="25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Authentication:</a:t>
            </a:r>
            <a:r>
              <a:rPr dirty="0" sz="2700" spc="25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Enforces</a:t>
            </a:r>
            <a:r>
              <a:rPr dirty="0" sz="2700" spc="26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login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validation</a:t>
            </a:r>
            <a:r>
              <a:rPr dirty="0" sz="2700" spc="18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2700" spc="18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Admin</a:t>
            </a:r>
            <a:r>
              <a:rPr dirty="0" sz="2700" spc="19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privileges</a:t>
            </a:r>
            <a:r>
              <a:rPr dirty="0" sz="2700" spc="18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vs</a:t>
            </a:r>
            <a:r>
              <a:rPr dirty="0" sz="2700" spc="19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standard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patron</a:t>
            </a:r>
            <a:r>
              <a:rPr dirty="0" sz="2700" spc="20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rights.</a:t>
            </a:r>
            <a:endParaRPr sz="2700">
              <a:latin typeface="Tahoma"/>
              <a:cs typeface="Tahoma"/>
            </a:endParaRPr>
          </a:p>
          <a:p>
            <a:pPr marL="12700" marR="117475">
              <a:lnSpc>
                <a:spcPct val="148100"/>
              </a:lnSpc>
              <a:spcBef>
                <a:spcPts val="5"/>
              </a:spcBef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Member</a:t>
            </a:r>
            <a:r>
              <a:rPr dirty="0" sz="2700" spc="19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Profile</a:t>
            </a:r>
            <a:r>
              <a:rPr dirty="0" sz="2700" spc="19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Tracking:</a:t>
            </a:r>
            <a:r>
              <a:rPr dirty="0" sz="2700" spc="19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Stores</a:t>
            </a:r>
            <a:r>
              <a:rPr dirty="0" sz="2700" spc="204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current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borrowed</a:t>
            </a:r>
            <a:r>
              <a:rPr dirty="0" sz="2700" spc="2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digital</a:t>
            </a:r>
            <a:r>
              <a:rPr dirty="0" sz="2700" spc="2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items,</a:t>
            </a:r>
            <a:r>
              <a:rPr dirty="0" sz="2700" spc="2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download</a:t>
            </a:r>
            <a:r>
              <a:rPr dirty="0" sz="2700" spc="24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limits,</a:t>
            </a:r>
            <a:r>
              <a:rPr dirty="0" sz="2700" spc="2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334053"/>
                </a:solidFill>
                <a:latin typeface="Tahoma"/>
                <a:cs typeface="Tahoma"/>
              </a:rPr>
              <a:t>and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fine</a:t>
            </a:r>
            <a:r>
              <a:rPr dirty="0" sz="2700" spc="1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history.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90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05">
                <a:solidFill>
                  <a:srgbClr val="0D1729"/>
                </a:solidFill>
              </a:rPr>
              <a:t>Module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1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-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 spc="-90">
                <a:solidFill>
                  <a:srgbClr val="0D1729"/>
                </a:solidFill>
              </a:rPr>
              <a:t>User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 spc="-75">
                <a:solidFill>
                  <a:srgbClr val="0D1729"/>
                </a:solidFill>
              </a:rPr>
              <a:t>Management</a:t>
            </a:r>
            <a:endParaRPr sz="38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29900" y="2444019"/>
            <a:ext cx="7656089" cy="7842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657600"/>
            <a:ext cx="5286374" cy="5943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5074" y="3657600"/>
            <a:ext cx="10928118" cy="59400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5" y="3771900"/>
            <a:ext cx="742949" cy="742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72287" y="3771900"/>
            <a:ext cx="742949" cy="7429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5850" y="3771900"/>
            <a:ext cx="742949" cy="7429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3037" y="4000500"/>
            <a:ext cx="314324" cy="314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86600" y="4000500"/>
            <a:ext cx="314324" cy="3143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0162" y="4000500"/>
            <a:ext cx="314324" cy="3143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35231" y="4459982"/>
            <a:ext cx="4104640" cy="38544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Format</a:t>
            </a:r>
            <a:r>
              <a:rPr dirty="0" sz="3000" spc="-17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Indexing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Tracks</a:t>
            </a:r>
            <a:r>
              <a:rPr dirty="0" sz="3000" spc="4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media</a:t>
            </a:r>
            <a:r>
              <a:rPr dirty="0" sz="3000" spc="4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types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including</a:t>
            </a:r>
            <a:r>
              <a:rPr dirty="0" sz="3000" spc="3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PDF</a:t>
            </a:r>
            <a:r>
              <a:rPr dirty="0" sz="3000" spc="3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eBooks,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EPUB</a:t>
            </a:r>
            <a:r>
              <a:rPr dirty="0" sz="3000" spc="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readers,</a:t>
            </a:r>
            <a:r>
              <a:rPr dirty="0" sz="3000" spc="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audio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lectures,</a:t>
            </a:r>
            <a:r>
              <a:rPr dirty="0" sz="3000" spc="5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 spc="5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interactive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code</a:t>
            </a:r>
            <a:r>
              <a:rPr dirty="0" sz="3000" spc="4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notebooks.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88157" y="4431883"/>
            <a:ext cx="4049395" cy="38544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Search</a:t>
            </a:r>
            <a:r>
              <a:rPr dirty="0" sz="3000" spc="-114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Filtering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Implements</a:t>
            </a:r>
            <a:r>
              <a:rPr dirty="0" sz="3000" spc="1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fast</a:t>
            </a:r>
            <a:r>
              <a:rPr dirty="0" sz="3000" spc="1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string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comparison</a:t>
            </a:r>
            <a:r>
              <a:rPr dirty="0" sz="3000" spc="20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methods</a:t>
            </a:r>
            <a:r>
              <a:rPr dirty="0" sz="3000" spc="21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to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filter</a:t>
            </a:r>
            <a:r>
              <a:rPr dirty="0" sz="3000" spc="13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dirty="0" sz="3000" spc="13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ISBN,</a:t>
            </a:r>
            <a:r>
              <a:rPr dirty="0" sz="3000" spc="13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author,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keywords,</a:t>
            </a:r>
            <a:r>
              <a:rPr dirty="0" sz="3000" spc="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or</a:t>
            </a:r>
            <a:r>
              <a:rPr dirty="0" sz="3000" spc="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64738B"/>
                </a:solidFill>
                <a:latin typeface="Tahoma"/>
                <a:cs typeface="Tahoma"/>
              </a:rPr>
              <a:t>title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substrings.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7451" y="4476746"/>
            <a:ext cx="4294505" cy="452120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 spc="-125">
                <a:solidFill>
                  <a:srgbClr val="0D1729"/>
                </a:solidFill>
                <a:latin typeface="Arial MT"/>
                <a:cs typeface="Arial MT"/>
              </a:rPr>
              <a:t>Category</a:t>
            </a:r>
            <a:r>
              <a:rPr dirty="0" sz="3000" spc="-18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Tagging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Classifies</a:t>
            </a:r>
            <a:r>
              <a:rPr dirty="0" sz="3000" spc="43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r>
              <a:rPr dirty="0" sz="3000" spc="44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64738B"/>
                </a:solidFill>
                <a:latin typeface="Tahoma"/>
                <a:cs typeface="Tahoma"/>
              </a:rPr>
              <a:t>into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Computer</a:t>
            </a:r>
            <a:r>
              <a:rPr dirty="0" sz="3000" spc="34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Science, Engineering, Mathematics,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Humanities,</a:t>
            </a:r>
            <a:r>
              <a:rPr dirty="0" sz="3000" spc="2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 spc="2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General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Science</a:t>
            </a:r>
            <a:r>
              <a:rPr dirty="0" sz="3000" spc="2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domains.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43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60">
                <a:solidFill>
                  <a:srgbClr val="0D1729"/>
                </a:solidFill>
              </a:rPr>
              <a:t>Module</a:t>
            </a:r>
            <a:r>
              <a:rPr dirty="0" sz="3800" spc="-33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2</a:t>
            </a:r>
            <a:r>
              <a:rPr dirty="0" sz="3800" spc="-33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-</a:t>
            </a:r>
            <a:r>
              <a:rPr dirty="0" sz="3800" spc="-335">
                <a:solidFill>
                  <a:srgbClr val="0D1729"/>
                </a:solidFill>
              </a:rPr>
              <a:t> </a:t>
            </a:r>
            <a:r>
              <a:rPr dirty="0" sz="3800" spc="-150">
                <a:solidFill>
                  <a:srgbClr val="0D1729"/>
                </a:solidFill>
              </a:rPr>
              <a:t>Smart</a:t>
            </a:r>
            <a:r>
              <a:rPr dirty="0" sz="3800" spc="-330">
                <a:solidFill>
                  <a:srgbClr val="0D1729"/>
                </a:solidFill>
              </a:rPr>
              <a:t> </a:t>
            </a:r>
            <a:r>
              <a:rPr dirty="0" sz="3800" spc="-135">
                <a:solidFill>
                  <a:srgbClr val="0D1729"/>
                </a:solidFill>
              </a:rPr>
              <a:t>Classification</a:t>
            </a:r>
            <a:endParaRPr sz="3800"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886200"/>
            <a:ext cx="5886449" cy="5943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86612" y="3886200"/>
            <a:ext cx="5886449" cy="5943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162" y="4243365"/>
            <a:ext cx="271462" cy="2995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99732" y="4271341"/>
            <a:ext cx="286992" cy="286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99381" y="4022089"/>
            <a:ext cx="4660265" cy="4283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700" spc="-85">
                <a:solidFill>
                  <a:srgbClr val="0082C7"/>
                </a:solidFill>
                <a:latin typeface="Arial MT"/>
                <a:cs typeface="Arial MT"/>
              </a:rPr>
              <a:t>Resource</a:t>
            </a:r>
            <a:r>
              <a:rPr dirty="0" sz="2700" spc="-125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2700" spc="-80">
                <a:solidFill>
                  <a:srgbClr val="0082C7"/>
                </a:solidFill>
                <a:latin typeface="Arial MT"/>
                <a:cs typeface="Arial MT"/>
              </a:rPr>
              <a:t>Inventory</a:t>
            </a:r>
            <a:r>
              <a:rPr dirty="0" sz="2700" spc="-120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82C7"/>
                </a:solidFill>
                <a:latin typeface="Arial MT"/>
                <a:cs typeface="Arial MT"/>
              </a:rPr>
              <a:t>Logic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700" spc="-80">
                <a:solidFill>
                  <a:srgbClr val="455369"/>
                </a:solidFill>
                <a:latin typeface="Tahoma"/>
                <a:cs typeface="Tahoma"/>
              </a:rPr>
              <a:t>Maintains</a:t>
            </a:r>
            <a:r>
              <a:rPr dirty="0" sz="2700" spc="-16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5">
                <a:solidFill>
                  <a:srgbClr val="455369"/>
                </a:solidFill>
                <a:latin typeface="Tahoma"/>
                <a:cs typeface="Tahoma"/>
              </a:rPr>
              <a:t>dynamic</a:t>
            </a:r>
            <a:r>
              <a:rPr dirty="0" sz="2700" spc="-16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455369"/>
                </a:solidFill>
                <a:latin typeface="Tahoma"/>
                <a:cs typeface="Tahoma"/>
              </a:rPr>
              <a:t>records</a:t>
            </a:r>
            <a:r>
              <a:rPr dirty="0" sz="2700" spc="-16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of</a:t>
            </a:r>
            <a:r>
              <a:rPr dirty="0" sz="2700" spc="6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455369"/>
                </a:solidFill>
                <a:latin typeface="Tahoma"/>
                <a:cs typeface="Tahoma"/>
              </a:rPr>
              <a:t>all</a:t>
            </a:r>
            <a:endParaRPr sz="2700">
              <a:latin typeface="Tahoma"/>
              <a:cs typeface="Tahoma"/>
            </a:endParaRPr>
          </a:p>
          <a:p>
            <a:pPr marL="12700" marR="130175">
              <a:lnSpc>
                <a:spcPct val="155100"/>
              </a:lnSpc>
            </a:pPr>
            <a:r>
              <a:rPr dirty="0" sz="2700" spc="-30">
                <a:solidFill>
                  <a:srgbClr val="455369"/>
                </a:solidFill>
                <a:latin typeface="Tahoma"/>
                <a:cs typeface="Tahoma"/>
              </a:rPr>
              <a:t>available</a:t>
            </a:r>
            <a:r>
              <a:rPr dirty="0" sz="2700" spc="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0">
                <a:solidFill>
                  <a:srgbClr val="455369"/>
                </a:solidFill>
                <a:latin typeface="Tahoma"/>
                <a:cs typeface="Tahoma"/>
              </a:rPr>
              <a:t>learning</a:t>
            </a:r>
            <a:r>
              <a:rPr dirty="0" sz="2700" spc="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materials. </a:t>
            </a:r>
            <a:r>
              <a:rPr dirty="0" sz="2700" spc="-85">
                <a:solidFill>
                  <a:srgbClr val="455369"/>
                </a:solidFill>
                <a:latin typeface="Tahoma"/>
                <a:cs typeface="Tahoma"/>
              </a:rPr>
              <a:t>Tracks</a:t>
            </a:r>
            <a:r>
              <a:rPr dirty="0" sz="2700" spc="-1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455369"/>
                </a:solidFill>
                <a:latin typeface="Tahoma"/>
                <a:cs typeface="Tahoma"/>
              </a:rPr>
              <a:t>current</a:t>
            </a:r>
            <a:r>
              <a:rPr dirty="0" sz="2700" spc="-1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5">
                <a:solidFill>
                  <a:srgbClr val="455369"/>
                </a:solidFill>
                <a:latin typeface="Tahoma"/>
                <a:cs typeface="Tahoma"/>
              </a:rPr>
              <a:t>stock,</a:t>
            </a:r>
            <a:r>
              <a:rPr dirty="0" sz="2700" spc="-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allocated </a:t>
            </a:r>
            <a:r>
              <a:rPr dirty="0" sz="2700" spc="-85">
                <a:solidFill>
                  <a:srgbClr val="455369"/>
                </a:solidFill>
                <a:latin typeface="Tahoma"/>
                <a:cs typeface="Tahoma"/>
              </a:rPr>
              <a:t>active</a:t>
            </a:r>
            <a:r>
              <a:rPr dirty="0" sz="2700" spc="-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90">
                <a:solidFill>
                  <a:srgbClr val="455369"/>
                </a:solidFill>
                <a:latin typeface="Tahoma"/>
                <a:cs typeface="Tahoma"/>
              </a:rPr>
              <a:t>licenses,</a:t>
            </a:r>
            <a:r>
              <a:rPr dirty="0" sz="2700" spc="-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75">
                <a:solidFill>
                  <a:srgbClr val="455369"/>
                </a:solidFill>
                <a:latin typeface="Tahoma"/>
                <a:cs typeface="Tahoma"/>
              </a:rPr>
              <a:t>digital</a:t>
            </a:r>
            <a:r>
              <a:rPr dirty="0" sz="2700" spc="-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75">
                <a:solidFill>
                  <a:srgbClr val="455369"/>
                </a:solidFill>
                <a:latin typeface="Tahoma"/>
                <a:cs typeface="Tahoma"/>
              </a:rPr>
              <a:t>file</a:t>
            </a:r>
            <a:r>
              <a:rPr dirty="0" sz="2700" spc="-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45">
                <a:solidFill>
                  <a:srgbClr val="455369"/>
                </a:solidFill>
                <a:latin typeface="Tahoma"/>
                <a:cs typeface="Tahoma"/>
              </a:rPr>
              <a:t>paths, </a:t>
            </a:r>
            <a:r>
              <a:rPr dirty="0" sz="2700" spc="-6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2700" spc="-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455369"/>
                </a:solidFill>
                <a:latin typeface="Tahoma"/>
                <a:cs typeface="Tahoma"/>
              </a:rPr>
              <a:t>publisher</a:t>
            </a:r>
            <a:r>
              <a:rPr dirty="0" sz="2700" spc="-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455369"/>
                </a:solidFill>
                <a:latin typeface="Tahoma"/>
                <a:cs typeface="Tahoma"/>
              </a:rPr>
              <a:t>metadata</a:t>
            </a:r>
            <a:r>
              <a:rPr dirty="0" sz="2700" spc="-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45">
                <a:solidFill>
                  <a:srgbClr val="455369"/>
                </a:solidFill>
                <a:latin typeface="Tahoma"/>
                <a:cs typeface="Tahoma"/>
              </a:rPr>
              <a:t>in</a:t>
            </a:r>
            <a:r>
              <a:rPr dirty="0" sz="2700" spc="-15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0">
                <a:solidFill>
                  <a:srgbClr val="455369"/>
                </a:solidFill>
                <a:latin typeface="Tahoma"/>
                <a:cs typeface="Tahoma"/>
              </a:rPr>
              <a:t>real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time.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9366" y="4022089"/>
            <a:ext cx="4537710" cy="49212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700">
                <a:solidFill>
                  <a:srgbClr val="0082C7"/>
                </a:solidFill>
                <a:latin typeface="Arial MT"/>
                <a:cs typeface="Arial MT"/>
              </a:rPr>
              <a:t>CRUD</a:t>
            </a:r>
            <a:r>
              <a:rPr dirty="0" sz="2700" spc="-165">
                <a:solidFill>
                  <a:srgbClr val="0082C7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082C7"/>
                </a:solidFill>
                <a:latin typeface="Arial MT"/>
                <a:cs typeface="Arial MT"/>
              </a:rPr>
              <a:t>Operations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Provides</a:t>
            </a:r>
            <a:r>
              <a:rPr dirty="0" sz="2700" spc="-17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authorized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55100"/>
              </a:lnSpc>
            </a:pP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administrators</a:t>
            </a:r>
            <a:r>
              <a:rPr dirty="0" sz="2700" spc="-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with</a:t>
            </a:r>
            <a:r>
              <a:rPr dirty="0" sz="2700" spc="-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options</a:t>
            </a:r>
            <a:r>
              <a:rPr dirty="0" sz="2700" spc="-10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455369"/>
                </a:solidFill>
                <a:latin typeface="Tahoma"/>
                <a:cs typeface="Tahoma"/>
              </a:rPr>
              <a:t>to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add</a:t>
            </a:r>
            <a:r>
              <a:rPr dirty="0" sz="2700" spc="-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newly</a:t>
            </a:r>
            <a:r>
              <a:rPr dirty="0" sz="2700" spc="-11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acquired</a:t>
            </a:r>
            <a:r>
              <a:rPr dirty="0" sz="2700" spc="-11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digital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titles,</a:t>
            </a:r>
            <a:r>
              <a:rPr dirty="0" sz="2700" spc="-13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update</a:t>
            </a:r>
            <a:r>
              <a:rPr dirty="0" sz="2700" spc="-12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existing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metadata,</a:t>
            </a:r>
            <a:r>
              <a:rPr dirty="0" sz="2700" spc="-16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remove</a:t>
            </a:r>
            <a:r>
              <a:rPr dirty="0" sz="2700" spc="-16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deprecated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editions,</a:t>
            </a:r>
            <a:r>
              <a:rPr dirty="0" sz="2700" spc="-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and</a:t>
            </a:r>
            <a:r>
              <a:rPr dirty="0" sz="2700" spc="-114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modify</a:t>
            </a:r>
            <a:r>
              <a:rPr dirty="0" sz="2700" spc="-120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active </a:t>
            </a:r>
            <a:r>
              <a:rPr dirty="0" sz="2700">
                <a:solidFill>
                  <a:srgbClr val="455369"/>
                </a:solidFill>
                <a:latin typeface="Tahoma"/>
                <a:cs typeface="Tahoma"/>
              </a:rPr>
              <a:t>license</a:t>
            </a:r>
            <a:r>
              <a:rPr dirty="0" sz="2700" spc="-165">
                <a:solidFill>
                  <a:srgbClr val="455369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455369"/>
                </a:solidFill>
                <a:latin typeface="Tahoma"/>
                <a:cs typeface="Tahoma"/>
              </a:rPr>
              <a:t>limits.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0"/>
              </a:spcBef>
            </a:pPr>
            <a:r>
              <a:rPr dirty="0" sz="4200" spc="-260">
                <a:solidFill>
                  <a:srgbClr val="0D1729"/>
                </a:solidFill>
              </a:rPr>
              <a:t>Module</a:t>
            </a:r>
            <a:r>
              <a:rPr dirty="0" sz="4200" spc="-530">
                <a:solidFill>
                  <a:srgbClr val="0D1729"/>
                </a:solidFill>
              </a:rPr>
              <a:t> </a:t>
            </a:r>
            <a:r>
              <a:rPr dirty="0" sz="4200" spc="-30">
                <a:solidFill>
                  <a:srgbClr val="0D1729"/>
                </a:solidFill>
              </a:rPr>
              <a:t>3</a:t>
            </a:r>
            <a:r>
              <a:rPr dirty="0" sz="4200" spc="-530">
                <a:solidFill>
                  <a:srgbClr val="0D1729"/>
                </a:solidFill>
              </a:rPr>
              <a:t> </a:t>
            </a:r>
            <a:r>
              <a:rPr dirty="0" sz="4200" spc="-20">
                <a:solidFill>
                  <a:srgbClr val="0D1729"/>
                </a:solidFill>
              </a:rPr>
              <a:t>-</a:t>
            </a:r>
            <a:r>
              <a:rPr dirty="0" sz="4200" spc="-530">
                <a:solidFill>
                  <a:srgbClr val="0D1729"/>
                </a:solidFill>
              </a:rPr>
              <a:t> </a:t>
            </a:r>
            <a:r>
              <a:rPr dirty="0" sz="4200" spc="-265">
                <a:solidFill>
                  <a:srgbClr val="0D1729"/>
                </a:solidFill>
              </a:rPr>
              <a:t>Digital</a:t>
            </a:r>
            <a:r>
              <a:rPr dirty="0" sz="4200" spc="-530">
                <a:solidFill>
                  <a:srgbClr val="0D1729"/>
                </a:solidFill>
              </a:rPr>
              <a:t> </a:t>
            </a:r>
            <a:r>
              <a:rPr dirty="0" sz="4200" spc="-265">
                <a:solidFill>
                  <a:srgbClr val="0D1729"/>
                </a:solidFill>
              </a:rPr>
              <a:t>Resource</a:t>
            </a:r>
            <a:r>
              <a:rPr dirty="0" sz="4200" spc="-530">
                <a:solidFill>
                  <a:srgbClr val="0D1729"/>
                </a:solidFill>
              </a:rPr>
              <a:t> </a:t>
            </a:r>
            <a:r>
              <a:rPr dirty="0" sz="4200" spc="-265">
                <a:solidFill>
                  <a:srgbClr val="0D1729"/>
                </a:solidFill>
              </a:rPr>
              <a:t>Engine</a:t>
            </a:r>
            <a:endParaRPr sz="42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22727" y="3084032"/>
            <a:ext cx="5062058" cy="72029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771900"/>
            <a:ext cx="185514" cy="171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5629493"/>
            <a:ext cx="142874" cy="1996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50" y="7429500"/>
            <a:ext cx="142874" cy="1996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7250" y="9258300"/>
            <a:ext cx="185514" cy="171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4599" y="3555012"/>
            <a:ext cx="993394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Automated</a:t>
            </a:r>
            <a:r>
              <a:rPr dirty="0" sz="3000" spc="-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Digital</a:t>
            </a:r>
            <a:r>
              <a:rPr dirty="0" sz="3000" spc="-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Checkout:</a:t>
            </a:r>
            <a:r>
              <a:rPr dirty="0" sz="3000" spc="-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Users</a:t>
            </a:r>
            <a:r>
              <a:rPr dirty="0" sz="3000" spc="-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can</a:t>
            </a:r>
            <a:r>
              <a:rPr dirty="0" sz="3000" spc="-6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request</a:t>
            </a:r>
            <a:r>
              <a:rPr dirty="0" sz="3000" spc="-6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instant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access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keys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or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downloadable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copies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if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licenses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are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within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safe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thresholds.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600"/>
              </a:spcBef>
            </a:pP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Loan</a:t>
            </a:r>
            <a:r>
              <a:rPr dirty="0" sz="3000" spc="-10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Duration</a:t>
            </a:r>
            <a:r>
              <a:rPr dirty="0" sz="3000" spc="-10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Enforcement:</a:t>
            </a:r>
            <a:r>
              <a:rPr dirty="0" sz="3000" spc="-10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Sets</a:t>
            </a:r>
            <a:r>
              <a:rPr dirty="0" sz="3000" spc="-10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auto-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expiring</a:t>
            </a:r>
            <a:endParaRPr sz="3000">
              <a:latin typeface="Tahoma"/>
              <a:cs typeface="Tahoma"/>
            </a:endParaRPr>
          </a:p>
          <a:p>
            <a:pPr marL="12700" marR="364490">
              <a:lnSpc>
                <a:spcPct val="100000"/>
              </a:lnSpc>
            </a:pP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checkout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periods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(e.g.,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14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days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students,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30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days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334053"/>
                </a:solidFill>
                <a:latin typeface="Tahoma"/>
                <a:cs typeface="Tahoma"/>
              </a:rPr>
              <a:t>for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faculty).</a:t>
            </a:r>
            <a:endParaRPr sz="3000">
              <a:latin typeface="Tahoma"/>
              <a:cs typeface="Tahoma"/>
            </a:endParaRPr>
          </a:p>
          <a:p>
            <a:pPr marL="12700" marR="653415">
              <a:lnSpc>
                <a:spcPct val="100000"/>
              </a:lnSpc>
              <a:spcBef>
                <a:spcPts val="3600"/>
              </a:spcBef>
            </a:pP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Fine</a:t>
            </a:r>
            <a:r>
              <a:rPr dirty="0" sz="3000" spc="-10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Calculation</a:t>
            </a:r>
            <a:r>
              <a:rPr dirty="0" sz="3000" spc="-9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Logic:</a:t>
            </a:r>
            <a:r>
              <a:rPr dirty="0" sz="3000" spc="-10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Programmatically</a:t>
            </a:r>
            <a:r>
              <a:rPr dirty="0" sz="3000" spc="-10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calculates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overdue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fines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delayed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digital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returns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based</a:t>
            </a:r>
            <a:r>
              <a:rPr dirty="0" sz="30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on</a:t>
            </a:r>
            <a:r>
              <a:rPr dirty="0" sz="30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daily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penalty</a:t>
            </a:r>
            <a:r>
              <a:rPr dirty="0" sz="3000" spc="-10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rates.</a:t>
            </a:r>
            <a:endParaRPr sz="3000">
              <a:latin typeface="Tahoma"/>
              <a:cs typeface="Tahoma"/>
            </a:endParaRPr>
          </a:p>
          <a:p>
            <a:pPr marL="12700" marR="113030">
              <a:lnSpc>
                <a:spcPct val="100000"/>
              </a:lnSpc>
              <a:spcBef>
                <a:spcPts val="3600"/>
              </a:spcBef>
            </a:pP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Waitlist</a:t>
            </a:r>
            <a:r>
              <a:rPr dirty="0" sz="3000" spc="-4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b="1">
                <a:solidFill>
                  <a:srgbClr val="334053"/>
                </a:solidFill>
                <a:latin typeface="Tahoma"/>
                <a:cs typeface="Tahoma"/>
              </a:rPr>
              <a:t>Prioritization:</a:t>
            </a:r>
            <a:r>
              <a:rPr dirty="0" sz="3000" spc="-4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Queues</a:t>
            </a:r>
            <a:r>
              <a:rPr dirty="0" sz="3000" spc="-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checkout</a:t>
            </a:r>
            <a:r>
              <a:rPr dirty="0" sz="3000" spc="-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requests</a:t>
            </a:r>
            <a:r>
              <a:rPr dirty="0" sz="30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334053"/>
                </a:solidFill>
                <a:latin typeface="Tahoma"/>
                <a:cs typeface="Tahoma"/>
              </a:rPr>
              <a:t>when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maximum</a:t>
            </a:r>
            <a:r>
              <a:rPr dirty="0" sz="3000" spc="-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digital</a:t>
            </a:r>
            <a:r>
              <a:rPr dirty="0" sz="30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license</a:t>
            </a:r>
            <a:r>
              <a:rPr dirty="0" sz="30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limits</a:t>
            </a:r>
            <a:r>
              <a:rPr dirty="0" sz="3000" spc="-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are</a:t>
            </a:r>
            <a:r>
              <a:rPr dirty="0" sz="30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334053"/>
                </a:solidFill>
                <a:latin typeface="Tahoma"/>
                <a:cs typeface="Tahoma"/>
              </a:rPr>
              <a:t>temporarily</a:t>
            </a:r>
            <a:r>
              <a:rPr dirty="0" sz="30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334053"/>
                </a:solidFill>
                <a:latin typeface="Tahoma"/>
                <a:cs typeface="Tahoma"/>
              </a:rPr>
              <a:t>reached.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38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dirty="0" sz="3800" spc="-155">
                <a:solidFill>
                  <a:srgbClr val="0D1729"/>
                </a:solidFill>
              </a:rPr>
              <a:t>Module</a:t>
            </a:r>
            <a:r>
              <a:rPr dirty="0" sz="3800" spc="-31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4</a:t>
            </a:r>
            <a:r>
              <a:rPr dirty="0" sz="3800" spc="-31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-</a:t>
            </a:r>
            <a:r>
              <a:rPr dirty="0" sz="3800" spc="-310">
                <a:solidFill>
                  <a:srgbClr val="0D1729"/>
                </a:solidFill>
              </a:rPr>
              <a:t> </a:t>
            </a:r>
            <a:r>
              <a:rPr dirty="0" sz="3800" spc="-165">
                <a:solidFill>
                  <a:srgbClr val="0D1729"/>
                </a:solidFill>
              </a:rPr>
              <a:t>Borrowing</a:t>
            </a:r>
            <a:r>
              <a:rPr dirty="0" sz="3800" spc="-31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&amp;</a:t>
            </a:r>
            <a:r>
              <a:rPr dirty="0" sz="3800" spc="-310">
                <a:solidFill>
                  <a:srgbClr val="0D1729"/>
                </a:solidFill>
              </a:rPr>
              <a:t> </a:t>
            </a:r>
            <a:r>
              <a:rPr dirty="0" sz="3800" spc="-155">
                <a:solidFill>
                  <a:srgbClr val="0D1729"/>
                </a:solidFill>
              </a:rPr>
              <a:t>Access</a:t>
            </a:r>
            <a:r>
              <a:rPr dirty="0" sz="3800" spc="-310">
                <a:solidFill>
                  <a:srgbClr val="0D1729"/>
                </a:solidFill>
              </a:rPr>
              <a:t> </a:t>
            </a:r>
            <a:r>
              <a:rPr dirty="0" sz="3800" spc="-70">
                <a:solidFill>
                  <a:srgbClr val="0D1729"/>
                </a:solidFill>
              </a:rPr>
              <a:t>Control</a:t>
            </a:r>
            <a:endParaRPr sz="38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424" y="3571494"/>
            <a:ext cx="6883067" cy="4829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4686300"/>
            <a:ext cx="185514" cy="171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6515100"/>
            <a:ext cx="185514" cy="171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50" y="8143875"/>
            <a:ext cx="185737" cy="2000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40" y="3713518"/>
            <a:ext cx="7200900" cy="382016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3000" spc="-125">
                <a:solidFill>
                  <a:srgbClr val="0D1729"/>
                </a:solidFill>
                <a:latin typeface="Arial MT"/>
                <a:cs typeface="Arial MT"/>
              </a:rPr>
              <a:t>Paperless</a:t>
            </a:r>
            <a:r>
              <a:rPr dirty="0" sz="3000" spc="-19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25">
                <a:solidFill>
                  <a:srgbClr val="0D1729"/>
                </a:solidFill>
                <a:latin typeface="Arial MT"/>
                <a:cs typeface="Arial MT"/>
              </a:rPr>
              <a:t>Repository</a:t>
            </a:r>
            <a:r>
              <a:rPr dirty="0" sz="3000" spc="-18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Features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400" spc="-100" b="1">
                <a:solidFill>
                  <a:srgbClr val="334053"/>
                </a:solidFill>
                <a:latin typeface="Tahoma"/>
                <a:cs typeface="Tahoma"/>
              </a:rPr>
              <a:t>Course</a:t>
            </a:r>
            <a:r>
              <a:rPr dirty="0" sz="2400" spc="-15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 b="1">
                <a:solidFill>
                  <a:srgbClr val="334053"/>
                </a:solidFill>
                <a:latin typeface="Tahoma"/>
                <a:cs typeface="Tahoma"/>
              </a:rPr>
              <a:t>Reader</a:t>
            </a:r>
            <a:r>
              <a:rPr dirty="0" sz="2400" spc="-15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10" b="1">
                <a:solidFill>
                  <a:srgbClr val="334053"/>
                </a:solidFill>
                <a:latin typeface="Tahoma"/>
                <a:cs typeface="Tahoma"/>
              </a:rPr>
              <a:t>Archiving:</a:t>
            </a:r>
            <a:r>
              <a:rPr dirty="0" sz="2400" spc="-15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Bundles</a:t>
            </a:r>
            <a:r>
              <a:rPr dirty="0" sz="2400" spc="-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subject</a:t>
            </a:r>
            <a:r>
              <a:rPr dirty="0" sz="2400" spc="-1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material,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48400"/>
              </a:lnSpc>
            </a:pP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syllabus</a:t>
            </a:r>
            <a:r>
              <a:rPr dirty="0" sz="2400" spc="-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95">
                <a:solidFill>
                  <a:srgbClr val="334053"/>
                </a:solidFill>
                <a:latin typeface="Tahoma"/>
                <a:cs typeface="Tahoma"/>
              </a:rPr>
              <a:t>PDFs,</a:t>
            </a:r>
            <a:r>
              <a:rPr dirty="0" sz="2400" spc="-1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80">
                <a:solidFill>
                  <a:srgbClr val="334053"/>
                </a:solidFill>
                <a:latin typeface="Tahoma"/>
                <a:cs typeface="Tahoma"/>
              </a:rPr>
              <a:t>and</a:t>
            </a:r>
            <a:r>
              <a:rPr dirty="0" sz="2400" spc="-1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historical</a:t>
            </a:r>
            <a:r>
              <a:rPr dirty="0" sz="2400" spc="-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90">
                <a:solidFill>
                  <a:srgbClr val="334053"/>
                </a:solidFill>
                <a:latin typeface="Tahoma"/>
                <a:cs typeface="Tahoma"/>
              </a:rPr>
              <a:t>exam</a:t>
            </a:r>
            <a:r>
              <a:rPr dirty="0" sz="2400" spc="-1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papers</a:t>
            </a:r>
            <a:r>
              <a:rPr dirty="0" sz="2400" spc="-1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70">
                <a:solidFill>
                  <a:srgbClr val="334053"/>
                </a:solidFill>
                <a:latin typeface="Tahoma"/>
                <a:cs typeface="Tahoma"/>
              </a:rPr>
              <a:t>per</a:t>
            </a:r>
            <a:r>
              <a:rPr dirty="0" sz="2400" spc="-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80">
                <a:solidFill>
                  <a:srgbClr val="334053"/>
                </a:solidFill>
                <a:latin typeface="Tahoma"/>
                <a:cs typeface="Tahoma"/>
              </a:rPr>
              <a:t>department. </a:t>
            </a:r>
            <a:r>
              <a:rPr dirty="0" sz="2400" spc="-95" b="1">
                <a:solidFill>
                  <a:srgbClr val="334053"/>
                </a:solidFill>
                <a:latin typeface="Tahoma"/>
                <a:cs typeface="Tahoma"/>
              </a:rPr>
              <a:t>Disk</a:t>
            </a:r>
            <a:r>
              <a:rPr dirty="0" sz="2400" spc="-16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5" b="1">
                <a:solidFill>
                  <a:srgbClr val="334053"/>
                </a:solidFill>
                <a:latin typeface="Tahoma"/>
                <a:cs typeface="Tahoma"/>
              </a:rPr>
              <a:t>Storage</a:t>
            </a:r>
            <a:r>
              <a:rPr dirty="0" sz="2400" spc="-1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10" b="1">
                <a:solidFill>
                  <a:srgbClr val="334053"/>
                </a:solidFill>
                <a:latin typeface="Tahoma"/>
                <a:cs typeface="Tahoma"/>
              </a:rPr>
              <a:t>Compression:</a:t>
            </a:r>
            <a:r>
              <a:rPr dirty="0" sz="2400" spc="-1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Efficient</a:t>
            </a:r>
            <a:r>
              <a:rPr dirty="0" sz="2400" spc="-1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90">
                <a:solidFill>
                  <a:srgbClr val="334053"/>
                </a:solidFill>
                <a:latin typeface="Tahoma"/>
                <a:cs typeface="Tahoma"/>
              </a:rPr>
              <a:t>file</a:t>
            </a:r>
            <a:r>
              <a:rPr dirty="0" sz="2400" spc="-1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record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formatting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65">
                <a:solidFill>
                  <a:srgbClr val="334053"/>
                </a:solidFill>
                <a:latin typeface="Tahoma"/>
                <a:cs typeface="Tahoma"/>
              </a:rPr>
              <a:t>in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binary</a:t>
            </a:r>
            <a:r>
              <a:rPr dirty="0" sz="2400" spc="-1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stream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95">
                <a:solidFill>
                  <a:srgbClr val="334053"/>
                </a:solidFill>
                <a:latin typeface="Tahoma"/>
                <a:cs typeface="Tahoma"/>
              </a:rPr>
              <a:t>format</a:t>
            </a:r>
            <a:r>
              <a:rPr dirty="0" sz="2400" spc="-1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(`fstream`).</a:t>
            </a:r>
            <a:endParaRPr sz="2400">
              <a:latin typeface="Tahoma"/>
              <a:cs typeface="Tahoma"/>
            </a:endParaRPr>
          </a:p>
          <a:p>
            <a:pPr marL="12700" marR="757555">
              <a:lnSpc>
                <a:spcPct val="148400"/>
              </a:lnSpc>
            </a:pPr>
            <a:r>
              <a:rPr dirty="0" sz="2400" spc="-105" b="1">
                <a:solidFill>
                  <a:srgbClr val="334053"/>
                </a:solidFill>
                <a:latin typeface="Tahoma"/>
                <a:cs typeface="Tahoma"/>
              </a:rPr>
              <a:t>Version</a:t>
            </a:r>
            <a:r>
              <a:rPr dirty="0" sz="2400" spc="-16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10" b="1">
                <a:solidFill>
                  <a:srgbClr val="334053"/>
                </a:solidFill>
                <a:latin typeface="Tahoma"/>
                <a:cs typeface="Tahoma"/>
              </a:rPr>
              <a:t>Control:</a:t>
            </a:r>
            <a:r>
              <a:rPr dirty="0" sz="2400" spc="-15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10">
                <a:solidFill>
                  <a:srgbClr val="334053"/>
                </a:solidFill>
                <a:latin typeface="Tahoma"/>
                <a:cs typeface="Tahoma"/>
              </a:rPr>
              <a:t>Maintains</a:t>
            </a:r>
            <a:r>
              <a:rPr dirty="0" sz="2400" spc="-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80">
                <a:solidFill>
                  <a:srgbClr val="334053"/>
                </a:solidFill>
                <a:latin typeface="Tahoma"/>
                <a:cs typeface="Tahoma"/>
              </a:rPr>
              <a:t>old</a:t>
            </a:r>
            <a:r>
              <a:rPr dirty="0" sz="2400" spc="-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textbook</a:t>
            </a:r>
            <a:r>
              <a:rPr dirty="0" sz="2400" spc="-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editions</a:t>
            </a:r>
            <a:r>
              <a:rPr dirty="0" sz="2400" spc="-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334053"/>
                </a:solidFill>
                <a:latin typeface="Tahoma"/>
                <a:cs typeface="Tahoma"/>
              </a:rPr>
              <a:t>in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secondary</a:t>
            </a:r>
            <a:r>
              <a:rPr dirty="0" sz="2400" spc="-16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archive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0">
                <a:solidFill>
                  <a:srgbClr val="334053"/>
                </a:solidFill>
                <a:latin typeface="Tahoma"/>
                <a:cs typeface="Tahoma"/>
              </a:rPr>
              <a:t>storage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7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5">
                <a:solidFill>
                  <a:srgbClr val="334053"/>
                </a:solidFill>
                <a:latin typeface="Tahoma"/>
                <a:cs typeface="Tahoma"/>
              </a:rPr>
              <a:t>historical</a:t>
            </a:r>
            <a:r>
              <a:rPr dirty="0" sz="2400" spc="-16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research.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1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65">
                <a:solidFill>
                  <a:srgbClr val="0D1729"/>
                </a:solidFill>
              </a:rPr>
              <a:t>Module</a:t>
            </a:r>
            <a:r>
              <a:rPr dirty="0" sz="3800" spc="-34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5</a:t>
            </a:r>
            <a:r>
              <a:rPr dirty="0" sz="3800" spc="-34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-</a:t>
            </a:r>
            <a:r>
              <a:rPr dirty="0" sz="3800" spc="-345">
                <a:solidFill>
                  <a:srgbClr val="0D1729"/>
                </a:solidFill>
              </a:rPr>
              <a:t> </a:t>
            </a:r>
            <a:r>
              <a:rPr dirty="0" sz="3800" spc="-180">
                <a:solidFill>
                  <a:srgbClr val="0D1729"/>
                </a:solidFill>
              </a:rPr>
              <a:t>Archiving</a:t>
            </a:r>
            <a:r>
              <a:rPr dirty="0" sz="3800" spc="-345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&amp;</a:t>
            </a:r>
            <a:r>
              <a:rPr dirty="0" sz="3800" spc="-345">
                <a:solidFill>
                  <a:srgbClr val="0D1729"/>
                </a:solidFill>
              </a:rPr>
              <a:t> </a:t>
            </a:r>
            <a:r>
              <a:rPr dirty="0" sz="3800" spc="-170">
                <a:solidFill>
                  <a:srgbClr val="0D1729"/>
                </a:solidFill>
              </a:rPr>
              <a:t>Document</a:t>
            </a:r>
            <a:r>
              <a:rPr dirty="0" sz="3800" spc="-340">
                <a:solidFill>
                  <a:srgbClr val="0D1729"/>
                </a:solidFill>
              </a:rPr>
              <a:t> </a:t>
            </a:r>
            <a:r>
              <a:rPr dirty="0" sz="3800" spc="-85">
                <a:solidFill>
                  <a:srgbClr val="0D1729"/>
                </a:solidFill>
              </a:rPr>
              <a:t>Control</a:t>
            </a:r>
            <a:endParaRPr sz="38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2989" y="3878675"/>
            <a:ext cx="9145008" cy="6061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95">
                <a:solidFill>
                  <a:srgbClr val="0D1729"/>
                </a:solidFill>
              </a:rPr>
              <a:t>Module</a:t>
            </a:r>
            <a:r>
              <a:rPr dirty="0" sz="3800" spc="-42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6</a:t>
            </a:r>
            <a:r>
              <a:rPr dirty="0" sz="3800" spc="-42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-</a:t>
            </a:r>
            <a:r>
              <a:rPr dirty="0" sz="3800" spc="-415">
                <a:solidFill>
                  <a:srgbClr val="0D1729"/>
                </a:solidFill>
              </a:rPr>
              <a:t> </a:t>
            </a:r>
            <a:r>
              <a:rPr dirty="0" sz="3800" spc="-190">
                <a:solidFill>
                  <a:srgbClr val="0D1729"/>
                </a:solidFill>
              </a:rPr>
              <a:t>Admin</a:t>
            </a:r>
            <a:r>
              <a:rPr dirty="0" sz="3800" spc="-420">
                <a:solidFill>
                  <a:srgbClr val="0D1729"/>
                </a:solidFill>
              </a:rPr>
              <a:t> </a:t>
            </a:r>
            <a:r>
              <a:rPr dirty="0" sz="3800" spc="-210">
                <a:solidFill>
                  <a:srgbClr val="0D1729"/>
                </a:solidFill>
              </a:rPr>
              <a:t>Analytics</a:t>
            </a:r>
            <a:r>
              <a:rPr dirty="0" sz="3800" spc="-420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&amp;</a:t>
            </a:r>
            <a:r>
              <a:rPr dirty="0" sz="3800" spc="-415">
                <a:solidFill>
                  <a:srgbClr val="0D1729"/>
                </a:solidFill>
              </a:rPr>
              <a:t> </a:t>
            </a:r>
            <a:r>
              <a:rPr dirty="0" sz="3800" spc="-130">
                <a:solidFill>
                  <a:srgbClr val="0D1729"/>
                </a:solidFill>
              </a:rPr>
              <a:t>Metrics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4030" y="2914650"/>
            <a:ext cx="8036718" cy="65703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4457700"/>
            <a:ext cx="157162" cy="200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50" y="6315075"/>
            <a:ext cx="228599" cy="200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7250" y="7572375"/>
            <a:ext cx="228599" cy="2000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8424" y="3923972"/>
            <a:ext cx="6864350" cy="429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100"/>
              </a:lnSpc>
              <a:spcBef>
                <a:spcPts val="100"/>
              </a:spcBef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Students: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Search catalog, checkout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eBooks,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read</a:t>
            </a:r>
            <a:r>
              <a:rPr dirty="0" sz="2700" spc="-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course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materials,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view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active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due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dates.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Faculty: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Recommend reading lists,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reserve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digital textbooks, request custom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archives.</a:t>
            </a:r>
            <a:endParaRPr sz="2700">
              <a:latin typeface="Tahoma"/>
              <a:cs typeface="Tahoma"/>
            </a:endParaRPr>
          </a:p>
          <a:p>
            <a:pPr marL="12700" marR="571500">
              <a:lnSpc>
                <a:spcPct val="148100"/>
              </a:lnSpc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Librarian</a:t>
            </a:r>
            <a:r>
              <a:rPr dirty="0" sz="2700" spc="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/</a:t>
            </a:r>
            <a:r>
              <a:rPr dirty="0" sz="2700" spc="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Admin:</a:t>
            </a:r>
            <a:r>
              <a:rPr dirty="0" sz="2700" spc="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Add/modify</a:t>
            </a:r>
            <a:r>
              <a:rPr dirty="0" sz="2700" spc="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catalog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inventory,</a:t>
            </a:r>
            <a:r>
              <a:rPr dirty="0" sz="2700" spc="9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manage</a:t>
            </a:r>
            <a:r>
              <a:rPr dirty="0" sz="2700" spc="9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member</a:t>
            </a:r>
            <a:r>
              <a:rPr dirty="0" sz="2700" spc="9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privileges,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extract</a:t>
            </a:r>
            <a:r>
              <a:rPr dirty="0" sz="2700" spc="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system</a:t>
            </a:r>
            <a:r>
              <a:rPr dirty="0" sz="2700" spc="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20">
                <a:solidFill>
                  <a:srgbClr val="334053"/>
                </a:solidFill>
                <a:latin typeface="Tahoma"/>
                <a:cs typeface="Tahoma"/>
              </a:rPr>
              <a:t>logs.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80">
                <a:solidFill>
                  <a:srgbClr val="0D1729"/>
                </a:solidFill>
              </a:rPr>
              <a:t>Use</a:t>
            </a:r>
            <a:r>
              <a:rPr dirty="0" sz="3800" spc="-235">
                <a:solidFill>
                  <a:srgbClr val="0D1729"/>
                </a:solidFill>
              </a:rPr>
              <a:t> </a:t>
            </a:r>
            <a:r>
              <a:rPr dirty="0" sz="3800" spc="-90">
                <a:solidFill>
                  <a:srgbClr val="0D1729"/>
                </a:solidFill>
              </a:rPr>
              <a:t>Case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>
                <a:solidFill>
                  <a:srgbClr val="0D1729"/>
                </a:solidFill>
              </a:rPr>
              <a:t>&amp;</a:t>
            </a:r>
            <a:r>
              <a:rPr dirty="0" sz="3800" spc="-235">
                <a:solidFill>
                  <a:srgbClr val="0D1729"/>
                </a:solidFill>
              </a:rPr>
              <a:t> </a:t>
            </a:r>
            <a:r>
              <a:rPr dirty="0" sz="3800" spc="-100">
                <a:solidFill>
                  <a:srgbClr val="0D1729"/>
                </a:solidFill>
              </a:rPr>
              <a:t>System</a:t>
            </a:r>
            <a:r>
              <a:rPr dirty="0" sz="3800" spc="-229">
                <a:solidFill>
                  <a:srgbClr val="0D1729"/>
                </a:solidFill>
              </a:rPr>
              <a:t> </a:t>
            </a:r>
            <a:r>
              <a:rPr dirty="0" sz="3800" spc="-80">
                <a:solidFill>
                  <a:srgbClr val="0D1729"/>
                </a:solidFill>
              </a:rPr>
              <a:t>Interaction</a:t>
            </a:r>
            <a:endParaRPr sz="38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4915" y="3752582"/>
            <a:ext cx="14914809" cy="857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8268" y="4690106"/>
            <a:ext cx="2233930" cy="251142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spc="-110">
                <a:solidFill>
                  <a:srgbClr val="0D1729"/>
                </a:solidFill>
                <a:latin typeface="Arial MT"/>
                <a:cs typeface="Arial MT"/>
              </a:rPr>
              <a:t>Login</a:t>
            </a:r>
            <a:r>
              <a:rPr dirty="0" sz="2400" spc="-21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D1729"/>
                </a:solidFill>
                <a:latin typeface="Arial MT"/>
                <a:cs typeface="Arial MT"/>
              </a:rPr>
              <a:t>&amp;</a:t>
            </a:r>
            <a:r>
              <a:rPr dirty="0" sz="2400" spc="-21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0D1729"/>
                </a:solidFill>
                <a:latin typeface="Arial MT"/>
                <a:cs typeface="Arial MT"/>
              </a:rPr>
              <a:t>Auth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dirty="0" sz="2400" spc="-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64738B"/>
                </a:solidFill>
                <a:latin typeface="Tahoma"/>
                <a:cs typeface="Tahoma"/>
              </a:rPr>
              <a:t>logs</a:t>
            </a:r>
            <a:r>
              <a:rPr dirty="0" sz="24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64738B"/>
                </a:solidFill>
                <a:latin typeface="Tahoma"/>
                <a:cs typeface="Tahoma"/>
              </a:rPr>
              <a:t>in</a:t>
            </a:r>
            <a:r>
              <a:rPr dirty="0" sz="24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64738B"/>
                </a:solidFill>
                <a:latin typeface="Tahoma"/>
                <a:cs typeface="Tahoma"/>
              </a:rPr>
              <a:t>with</a:t>
            </a:r>
            <a:endParaRPr sz="2400">
              <a:latin typeface="Tahoma"/>
              <a:cs typeface="Tahoma"/>
            </a:endParaRPr>
          </a:p>
          <a:p>
            <a:pPr marL="12700" marR="616585">
              <a:lnSpc>
                <a:spcPct val="143200"/>
              </a:lnSpc>
            </a:pPr>
            <a:r>
              <a:rPr dirty="0" sz="240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dirty="0" sz="24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64738B"/>
                </a:solidFill>
                <a:latin typeface="Tahoma"/>
                <a:cs typeface="Tahoma"/>
              </a:rPr>
              <a:t>ID</a:t>
            </a:r>
            <a:r>
              <a:rPr dirty="0" sz="2400" spc="-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dirty="0" sz="2400" spc="-10">
                <a:solidFill>
                  <a:srgbClr val="64738B"/>
                </a:solidFill>
                <a:latin typeface="Tahoma"/>
                <a:cs typeface="Tahoma"/>
              </a:rPr>
              <a:t>password validation.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8871" y="4688202"/>
            <a:ext cx="2837180" cy="221615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2700">
                <a:solidFill>
                  <a:srgbClr val="0D1729"/>
                </a:solidFill>
                <a:latin typeface="Arial MT"/>
                <a:cs typeface="Arial MT"/>
              </a:rPr>
              <a:t>OPAC</a:t>
            </a:r>
            <a:r>
              <a:rPr dirty="0" sz="2700" spc="-10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D1729"/>
                </a:solidFill>
                <a:latin typeface="Arial MT"/>
                <a:cs typeface="Arial MT"/>
              </a:rPr>
              <a:t>Search</a:t>
            </a:r>
            <a:endParaRPr sz="2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Query</a:t>
            </a:r>
            <a:r>
              <a:rPr dirty="0" sz="2700" spc="-15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endParaRPr sz="2700">
              <a:latin typeface="Tahoma"/>
              <a:cs typeface="Tahoma"/>
            </a:endParaRPr>
          </a:p>
          <a:p>
            <a:pPr algn="ctr" marL="12700" marR="5080">
              <a:lnSpc>
                <a:spcPct val="143500"/>
              </a:lnSpc>
            </a:pP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dirty="0" sz="2700" spc="-12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title,</a:t>
            </a:r>
            <a:r>
              <a:rPr dirty="0" sz="27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subject,</a:t>
            </a:r>
            <a:r>
              <a:rPr dirty="0" sz="2700" spc="-11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64738B"/>
                </a:solidFill>
                <a:latin typeface="Tahoma"/>
                <a:cs typeface="Tahoma"/>
              </a:rPr>
              <a:t>or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ISBN</a:t>
            </a:r>
            <a:r>
              <a:rPr dirty="0" sz="2700" spc="-9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20">
                <a:solidFill>
                  <a:srgbClr val="64738B"/>
                </a:solidFill>
                <a:latin typeface="Tahoma"/>
                <a:cs typeface="Tahoma"/>
              </a:rPr>
              <a:t>tag.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6093" y="4688202"/>
            <a:ext cx="2393315" cy="221615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 marL="20320">
              <a:lnSpc>
                <a:spcPct val="100000"/>
              </a:lnSpc>
              <a:spcBef>
                <a:spcPts val="835"/>
              </a:spcBef>
            </a:pPr>
            <a:r>
              <a:rPr dirty="0" sz="2700" spc="-135">
                <a:solidFill>
                  <a:srgbClr val="0D1729"/>
                </a:solidFill>
                <a:latin typeface="Arial MT"/>
                <a:cs typeface="Arial MT"/>
              </a:rPr>
              <a:t>License</a:t>
            </a:r>
            <a:r>
              <a:rPr dirty="0" sz="2700" spc="-26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D1729"/>
                </a:solidFill>
                <a:latin typeface="Arial MT"/>
                <a:cs typeface="Arial MT"/>
              </a:rPr>
              <a:t>Check</a:t>
            </a:r>
            <a:endParaRPr sz="2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System</a:t>
            </a:r>
            <a:r>
              <a:rPr dirty="0" sz="2700" spc="7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verifies</a:t>
            </a:r>
            <a:endParaRPr sz="2700">
              <a:latin typeface="Tahoma"/>
              <a:cs typeface="Tahoma"/>
            </a:endParaRPr>
          </a:p>
          <a:p>
            <a:pPr algn="ctr" marL="12700" marR="5080">
              <a:lnSpc>
                <a:spcPct val="143500"/>
              </a:lnSpc>
            </a:pP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active</a:t>
            </a:r>
            <a:r>
              <a:rPr dirty="0" sz="2700" spc="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checkout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availabilit</a:t>
            </a:r>
            <a:r>
              <a:rPr dirty="0" sz="2700" spc="16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64738B"/>
                </a:solidFill>
                <a:latin typeface="Tahoma"/>
                <a:cs typeface="Tahoma"/>
              </a:rPr>
              <a:t>y.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57601" y="4699441"/>
            <a:ext cx="2776220" cy="221615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2700" spc="-114">
                <a:solidFill>
                  <a:srgbClr val="0D1729"/>
                </a:solidFill>
                <a:latin typeface="Arial MT"/>
                <a:cs typeface="Arial MT"/>
              </a:rPr>
              <a:t>Checkout</a:t>
            </a:r>
            <a:r>
              <a:rPr dirty="0" sz="2700" spc="-21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D1729"/>
                </a:solidFill>
                <a:latin typeface="Arial MT"/>
                <a:cs typeface="Arial MT"/>
              </a:rPr>
              <a:t>/</a:t>
            </a:r>
            <a:r>
              <a:rPr dirty="0" sz="2700" spc="-21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0D1729"/>
                </a:solidFill>
                <a:latin typeface="Arial MT"/>
                <a:cs typeface="Arial MT"/>
              </a:rPr>
              <a:t>Issue</a:t>
            </a:r>
            <a:endParaRPr sz="2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2700" spc="-110">
                <a:solidFill>
                  <a:srgbClr val="64738B"/>
                </a:solidFill>
                <a:latin typeface="Tahoma"/>
                <a:cs typeface="Tahoma"/>
              </a:rPr>
              <a:t>Digital</a:t>
            </a:r>
            <a:r>
              <a:rPr dirty="0" sz="2700" spc="-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5">
                <a:solidFill>
                  <a:srgbClr val="64738B"/>
                </a:solidFill>
                <a:latin typeface="Tahoma"/>
                <a:cs typeface="Tahoma"/>
              </a:rPr>
              <a:t>copy</a:t>
            </a:r>
            <a:r>
              <a:rPr dirty="0" sz="2700" spc="-20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64738B"/>
                </a:solidFill>
                <a:latin typeface="Tahoma"/>
                <a:cs typeface="Tahoma"/>
              </a:rPr>
              <a:t>granted</a:t>
            </a:r>
            <a:endParaRPr sz="2700">
              <a:latin typeface="Tahoma"/>
              <a:cs typeface="Tahoma"/>
            </a:endParaRPr>
          </a:p>
          <a:p>
            <a:pPr algn="ctr" marL="88265" marR="80645">
              <a:lnSpc>
                <a:spcPct val="143500"/>
              </a:lnSpc>
            </a:pPr>
            <a:r>
              <a:rPr dirty="0" sz="2700" spc="-25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dirty="0" sz="2700" spc="-22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5">
                <a:solidFill>
                  <a:srgbClr val="64738B"/>
                </a:solidFill>
                <a:latin typeface="Tahoma"/>
                <a:cs typeface="Tahoma"/>
              </a:rPr>
              <a:t>issue</a:t>
            </a:r>
            <a:r>
              <a:rPr dirty="0" sz="2700" spc="-22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14">
                <a:solidFill>
                  <a:srgbClr val="64738B"/>
                </a:solidFill>
                <a:latin typeface="Tahoma"/>
                <a:cs typeface="Tahoma"/>
              </a:rPr>
              <a:t>transaction 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logged.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60600" y="4750571"/>
            <a:ext cx="2078355" cy="31229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717550">
              <a:lnSpc>
                <a:spcPts val="3229"/>
              </a:lnSpc>
              <a:spcBef>
                <a:spcPts val="215"/>
              </a:spcBef>
            </a:pPr>
            <a:r>
              <a:rPr dirty="0" sz="2700">
                <a:solidFill>
                  <a:srgbClr val="0D1729"/>
                </a:solidFill>
                <a:latin typeface="Arial MT"/>
                <a:cs typeface="Arial MT"/>
              </a:rPr>
              <a:t>Return</a:t>
            </a:r>
            <a:r>
              <a:rPr dirty="0" sz="2700" spc="-13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2700" spc="-50">
                <a:solidFill>
                  <a:srgbClr val="0D1729"/>
                </a:solidFill>
                <a:latin typeface="Arial MT"/>
                <a:cs typeface="Arial MT"/>
              </a:rPr>
              <a:t>&amp; </a:t>
            </a:r>
            <a:r>
              <a:rPr dirty="0" sz="2700" spc="-10">
                <a:solidFill>
                  <a:srgbClr val="0D1729"/>
                </a:solidFill>
                <a:latin typeface="Arial MT"/>
                <a:cs typeface="Arial MT"/>
              </a:rPr>
              <a:t>Report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Resource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43500"/>
              </a:lnSpc>
            </a:pP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returned</a:t>
            </a:r>
            <a:r>
              <a:rPr dirty="0" sz="2700" spc="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64738B"/>
                </a:solidFill>
                <a:latin typeface="Tahoma"/>
                <a:cs typeface="Tahoma"/>
              </a:rPr>
              <a:t>or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auto-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expired; </a:t>
            </a:r>
            <a:r>
              <a:rPr dirty="0" sz="2700">
                <a:solidFill>
                  <a:srgbClr val="64738B"/>
                </a:solidFill>
                <a:latin typeface="Tahoma"/>
                <a:cs typeface="Tahoma"/>
              </a:rPr>
              <a:t>log</a:t>
            </a:r>
            <a:r>
              <a:rPr dirty="0" sz="2700" spc="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64738B"/>
                </a:solidFill>
                <a:latin typeface="Tahoma"/>
                <a:cs typeface="Tahoma"/>
              </a:rPr>
              <a:t>updated.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45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dirty="0" sz="3800" spc="-75">
                <a:solidFill>
                  <a:srgbClr val="0D1729"/>
                </a:solidFill>
              </a:rPr>
              <a:t>System</a:t>
            </a:r>
            <a:r>
              <a:rPr dirty="0" sz="3800" spc="-165">
                <a:solidFill>
                  <a:srgbClr val="0D1729"/>
                </a:solidFill>
              </a:rPr>
              <a:t> </a:t>
            </a:r>
            <a:r>
              <a:rPr dirty="0" sz="3800" spc="-45">
                <a:solidFill>
                  <a:srgbClr val="0D1729"/>
                </a:solidFill>
              </a:rPr>
              <a:t>Workflow</a:t>
            </a:r>
            <a:endParaRPr sz="38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954065"/>
            <a:ext cx="5283761" cy="59501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0812" y="3954065"/>
            <a:ext cx="10928118" cy="59495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725" y="4396978"/>
            <a:ext cx="742949" cy="742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72287" y="4396978"/>
            <a:ext cx="742949" cy="7429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15850" y="4396978"/>
            <a:ext cx="742949" cy="7429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3037" y="4611290"/>
            <a:ext cx="314324" cy="314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22318" y="4611290"/>
            <a:ext cx="242887" cy="3140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08731" y="4611290"/>
            <a:ext cx="357187" cy="3143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96974" y="5205504"/>
            <a:ext cx="4260850" cy="318770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OOP</a:t>
            </a:r>
            <a:r>
              <a:rPr dirty="0" sz="3000" spc="-11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Principles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 spc="40">
                <a:solidFill>
                  <a:srgbClr val="64738B"/>
                </a:solidFill>
                <a:latin typeface="Tahoma"/>
                <a:cs typeface="Tahoma"/>
              </a:rPr>
              <a:t>UtilizesClasses,Inheritan</a:t>
            </a:r>
            <a:endParaRPr sz="3000">
              <a:latin typeface="Tahoma"/>
              <a:cs typeface="Tahoma"/>
            </a:endParaRPr>
          </a:p>
          <a:p>
            <a:pPr marL="12700" marR="142240">
              <a:lnSpc>
                <a:spcPct val="145800"/>
              </a:lnSpc>
            </a:pP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ce,</a:t>
            </a:r>
            <a:r>
              <a:rPr dirty="0" sz="3000" spc="47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Encapsulation,</a:t>
            </a:r>
            <a:r>
              <a:rPr dirty="0" sz="3000" spc="484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dirty="0" sz="3000" spc="45">
                <a:solidFill>
                  <a:srgbClr val="64738B"/>
                </a:solidFill>
                <a:latin typeface="Tahoma"/>
                <a:cs typeface="Tahoma"/>
              </a:rPr>
              <a:t>Polymorphism</a:t>
            </a:r>
            <a:r>
              <a:rPr dirty="0" sz="3000" spc="18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dirty="0" sz="3000" spc="18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clean </a:t>
            </a:r>
            <a:r>
              <a:rPr dirty="0" sz="3000" spc="45">
                <a:solidFill>
                  <a:srgbClr val="64738B"/>
                </a:solidFill>
                <a:latin typeface="Tahoma"/>
                <a:cs typeface="Tahoma"/>
              </a:rPr>
              <a:t>separation</a:t>
            </a:r>
            <a:r>
              <a:rPr dirty="0" sz="3000" spc="15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of</a:t>
            </a:r>
            <a:r>
              <a:rPr dirty="0" sz="3000" spc="16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35">
                <a:solidFill>
                  <a:srgbClr val="64738B"/>
                </a:solidFill>
                <a:latin typeface="Tahoma"/>
                <a:cs typeface="Tahoma"/>
              </a:rPr>
              <a:t>concerns.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0537" y="5205504"/>
            <a:ext cx="3743325" cy="25209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File</a:t>
            </a:r>
            <a:r>
              <a:rPr dirty="0" sz="3000" spc="-95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Handling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Uses`ifstream`and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`ofstream`stream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objects</a:t>
            </a:r>
            <a:r>
              <a:rPr dirty="0" sz="3000" spc="52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dirty="0" sz="3000" spc="52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persistent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2352" y="7701053"/>
            <a:ext cx="219138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2750">
              <a:lnSpc>
                <a:spcPct val="145800"/>
              </a:lnSpc>
              <a:spcBef>
                <a:spcPts val="100"/>
              </a:spcBef>
              <a:tabLst>
                <a:tab pos="947419" algn="l"/>
                <a:tab pos="1445895" algn="l"/>
              </a:tabLst>
            </a:pP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of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	</a:t>
            </a:r>
            <a:r>
              <a:rPr dirty="0" sz="3000" spc="-20">
                <a:solidFill>
                  <a:srgbClr val="64738B"/>
                </a:solidFill>
                <a:latin typeface="Tahoma"/>
                <a:cs typeface="Tahoma"/>
              </a:rPr>
              <a:t>user 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catalog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0537" y="7701053"/>
            <a:ext cx="1301115" cy="202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storage profiles lists.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84099" y="5205504"/>
            <a:ext cx="4459605" cy="25209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3000">
                <a:solidFill>
                  <a:srgbClr val="0D1729"/>
                </a:solidFill>
                <a:latin typeface="Arial MT"/>
                <a:cs typeface="Arial MT"/>
              </a:rPr>
              <a:t>STL</a:t>
            </a:r>
            <a:r>
              <a:rPr dirty="0" sz="3000" spc="-80">
                <a:solidFill>
                  <a:srgbClr val="0D172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D1729"/>
                </a:solidFill>
                <a:latin typeface="Arial MT"/>
                <a:cs typeface="Arial MT"/>
              </a:rPr>
              <a:t>Containers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3818890" algn="l"/>
              </a:tabLst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Applies`std::vector`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45800"/>
              </a:lnSpc>
              <a:tabLst>
                <a:tab pos="1847214" algn="l"/>
                <a:tab pos="3977004" algn="l"/>
              </a:tabLst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standard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algorithms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for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dynamic-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memory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84099" y="7701053"/>
            <a:ext cx="445960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  <a:tabLst>
                <a:tab pos="2045335" algn="l"/>
                <a:tab pos="3097530" algn="l"/>
              </a:tabLst>
            </a:pP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allocation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25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	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efficient </a:t>
            </a:r>
            <a:r>
              <a:rPr dirty="0" sz="3000">
                <a:solidFill>
                  <a:srgbClr val="64738B"/>
                </a:solidFill>
                <a:latin typeface="Tahoma"/>
                <a:cs typeface="Tahoma"/>
              </a:rPr>
              <a:t>data</a:t>
            </a:r>
            <a:r>
              <a:rPr dirty="0" sz="3000" spc="25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64738B"/>
                </a:solidFill>
                <a:latin typeface="Tahoma"/>
                <a:cs typeface="Tahoma"/>
              </a:rPr>
              <a:t>sorting.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996950" y="2562031"/>
            <a:ext cx="7317105" cy="60833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14">
                <a:solidFill>
                  <a:srgbClr val="0D1729"/>
                </a:solidFill>
              </a:rPr>
              <a:t>C++</a:t>
            </a:r>
            <a:r>
              <a:rPr dirty="0" sz="3800" spc="-254">
                <a:solidFill>
                  <a:srgbClr val="0D1729"/>
                </a:solidFill>
              </a:rPr>
              <a:t> </a:t>
            </a:r>
            <a:r>
              <a:rPr dirty="0" sz="3800" spc="-155">
                <a:solidFill>
                  <a:srgbClr val="0D1729"/>
                </a:solidFill>
              </a:rPr>
              <a:t>Programming</a:t>
            </a:r>
            <a:r>
              <a:rPr dirty="0" sz="3800" spc="-254">
                <a:solidFill>
                  <a:srgbClr val="0D1729"/>
                </a:solidFill>
              </a:rPr>
              <a:t> </a:t>
            </a:r>
            <a:r>
              <a:rPr dirty="0" sz="3800" spc="-145">
                <a:solidFill>
                  <a:srgbClr val="0D1729"/>
                </a:solidFill>
              </a:rPr>
              <a:t>Concepts</a:t>
            </a:r>
            <a:r>
              <a:rPr dirty="0" sz="3800" spc="-250">
                <a:solidFill>
                  <a:srgbClr val="0D1729"/>
                </a:solidFill>
              </a:rPr>
              <a:t> </a:t>
            </a:r>
            <a:r>
              <a:rPr dirty="0" sz="3800" spc="-70">
                <a:solidFill>
                  <a:srgbClr val="0D1729"/>
                </a:solidFill>
              </a:rPr>
              <a:t>Applied</a:t>
            </a:r>
            <a:endParaRPr sz="3800"/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3725465"/>
            <a:ext cx="3926585" cy="17573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2062" y="3725465"/>
            <a:ext cx="12356454" cy="17573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50" y="6172200"/>
            <a:ext cx="157162" cy="200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7250" y="7429500"/>
            <a:ext cx="185737" cy="200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250" y="8601075"/>
            <a:ext cx="185737" cy="2000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87499" y="5976248"/>
            <a:ext cx="10106025" cy="3303904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15"/>
              </a:spcBef>
            </a:pPr>
            <a:r>
              <a:rPr dirty="0" sz="2700" spc="50" b="1">
                <a:solidFill>
                  <a:srgbClr val="334053"/>
                </a:solidFill>
                <a:latin typeface="Tahoma"/>
                <a:cs typeface="Tahoma"/>
              </a:rPr>
              <a:t>High</a:t>
            </a:r>
            <a:r>
              <a:rPr dirty="0" sz="2700" spc="1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60" b="1">
                <a:solidFill>
                  <a:srgbClr val="334053"/>
                </a:solidFill>
                <a:latin typeface="Tahoma"/>
                <a:cs typeface="Tahoma"/>
              </a:rPr>
              <a:t>Operational</a:t>
            </a:r>
            <a:r>
              <a:rPr dirty="0" sz="2700" spc="17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0" b="1">
                <a:solidFill>
                  <a:srgbClr val="334053"/>
                </a:solidFill>
                <a:latin typeface="Tahoma"/>
                <a:cs typeface="Tahoma"/>
              </a:rPr>
              <a:t>Speed:</a:t>
            </a:r>
            <a:r>
              <a:rPr dirty="0" sz="2700" spc="17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334053"/>
                </a:solidFill>
                <a:latin typeface="Tahoma"/>
                <a:cs typeface="Tahoma"/>
              </a:rPr>
              <a:t>compilation</a:t>
            </a:r>
            <a:r>
              <a:rPr dirty="0" sz="2700" spc="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5">
                <a:solidFill>
                  <a:srgbClr val="334053"/>
                </a:solidFill>
                <a:latin typeface="Tahoma"/>
                <a:cs typeface="Tahoma"/>
              </a:rPr>
              <a:t>ensures</a:t>
            </a:r>
            <a:r>
              <a:rPr dirty="0" sz="2700" spc="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334053"/>
                </a:solidFill>
                <a:latin typeface="Tahoma"/>
                <a:cs typeface="Tahoma"/>
              </a:rPr>
              <a:t>fast</a:t>
            </a:r>
            <a:r>
              <a:rPr dirty="0" sz="2700" spc="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334053"/>
                </a:solidFill>
                <a:latin typeface="Tahoma"/>
                <a:cs typeface="Tahoma"/>
              </a:rPr>
              <a:t>execution and</a:t>
            </a:r>
            <a:r>
              <a:rPr dirty="0" sz="2700" spc="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334053"/>
                </a:solidFill>
                <a:latin typeface="Tahoma"/>
                <a:cs typeface="Tahoma"/>
              </a:rPr>
              <a:t>low</a:t>
            </a:r>
            <a:r>
              <a:rPr dirty="0" sz="2700" spc="1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5">
                <a:solidFill>
                  <a:srgbClr val="334053"/>
                </a:solidFill>
                <a:latin typeface="Tahoma"/>
                <a:cs typeface="Tahoma"/>
              </a:rPr>
              <a:t>memory</a:t>
            </a:r>
            <a:r>
              <a:rPr dirty="0" sz="2700" spc="15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55">
                <a:solidFill>
                  <a:srgbClr val="334053"/>
                </a:solidFill>
                <a:latin typeface="Tahoma"/>
                <a:cs typeface="Tahoma"/>
              </a:rPr>
              <a:t>footprint.</a:t>
            </a:r>
            <a:endParaRPr sz="2700">
              <a:latin typeface="Tahoma"/>
              <a:cs typeface="Tahoma"/>
            </a:endParaRPr>
          </a:p>
          <a:p>
            <a:pPr marL="12700" marR="15875">
              <a:lnSpc>
                <a:spcPts val="3229"/>
              </a:lnSpc>
              <a:spcBef>
                <a:spcPts val="3215"/>
              </a:spcBef>
            </a:pPr>
            <a:r>
              <a:rPr dirty="0" sz="2700" spc="-30" b="1">
                <a:solidFill>
                  <a:srgbClr val="334053"/>
                </a:solidFill>
                <a:latin typeface="Tahoma"/>
                <a:cs typeface="Tahoma"/>
              </a:rPr>
              <a:t>Eco-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Friendly</a:t>
            </a:r>
            <a:r>
              <a:rPr dirty="0" sz="27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&amp;</a:t>
            </a:r>
            <a:r>
              <a:rPr dirty="0" sz="27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 b="1">
                <a:solidFill>
                  <a:srgbClr val="334053"/>
                </a:solidFill>
                <a:latin typeface="Tahoma"/>
                <a:cs typeface="Tahoma"/>
              </a:rPr>
              <a:t>Sustainable:</a:t>
            </a:r>
            <a:r>
              <a:rPr dirty="0" sz="27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Reduces</a:t>
            </a:r>
            <a:r>
              <a:rPr dirty="0" sz="2700" spc="-1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paper</a:t>
            </a:r>
            <a:r>
              <a:rPr dirty="0" sz="27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consumption</a:t>
            </a:r>
            <a:r>
              <a:rPr dirty="0" sz="2700" spc="-1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across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academic</a:t>
            </a:r>
            <a:r>
              <a:rPr dirty="0" sz="2700" spc="-17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departments.</a:t>
            </a:r>
            <a:endParaRPr sz="2700">
              <a:latin typeface="Tahoma"/>
              <a:cs typeface="Tahoma"/>
            </a:endParaRPr>
          </a:p>
          <a:p>
            <a:pPr marL="12700" marR="465455">
              <a:lnSpc>
                <a:spcPts val="3229"/>
              </a:lnSpc>
              <a:spcBef>
                <a:spcPts val="3204"/>
              </a:spcBef>
            </a:pPr>
            <a:r>
              <a:rPr dirty="0" sz="2700" b="1">
                <a:solidFill>
                  <a:srgbClr val="334053"/>
                </a:solidFill>
                <a:latin typeface="Tahoma"/>
                <a:cs typeface="Tahoma"/>
              </a:rPr>
              <a:t>Modular</a:t>
            </a:r>
            <a:r>
              <a:rPr dirty="0" sz="27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 b="1">
                <a:solidFill>
                  <a:srgbClr val="334053"/>
                </a:solidFill>
                <a:latin typeface="Tahoma"/>
                <a:cs typeface="Tahoma"/>
              </a:rPr>
              <a:t>Maintenance:</a:t>
            </a:r>
            <a:r>
              <a:rPr dirty="0" sz="2700" spc="-12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Clean</a:t>
            </a:r>
            <a:r>
              <a:rPr dirty="0" sz="27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modular</a:t>
            </a:r>
            <a:r>
              <a:rPr dirty="0" sz="27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design</a:t>
            </a:r>
            <a:r>
              <a:rPr dirty="0" sz="2700" spc="-1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allows</a:t>
            </a:r>
            <a:r>
              <a:rPr dirty="0" sz="2700" spc="-1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seamless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expansion</a:t>
            </a:r>
            <a:r>
              <a:rPr dirty="0" sz="2700" spc="-10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of</a:t>
            </a:r>
            <a:r>
              <a:rPr dirty="0" sz="2700" spc="-10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334053"/>
                </a:solidFill>
                <a:latin typeface="Tahoma"/>
                <a:cs typeface="Tahoma"/>
              </a:rPr>
              <a:t>new</a:t>
            </a:r>
            <a:r>
              <a:rPr dirty="0" sz="2700" spc="-10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334053"/>
                </a:solidFill>
                <a:latin typeface="Tahoma"/>
                <a:cs typeface="Tahoma"/>
              </a:rPr>
              <a:t>features.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8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75">
                <a:solidFill>
                  <a:srgbClr val="0D1729"/>
                </a:solidFill>
              </a:rPr>
              <a:t>System</a:t>
            </a:r>
            <a:r>
              <a:rPr dirty="0" sz="3800" spc="-365">
                <a:solidFill>
                  <a:srgbClr val="0D1729"/>
                </a:solidFill>
              </a:rPr>
              <a:t> </a:t>
            </a:r>
            <a:r>
              <a:rPr dirty="0" sz="3800" spc="-160">
                <a:solidFill>
                  <a:srgbClr val="0D1729"/>
                </a:solidFill>
              </a:rPr>
              <a:t>Advantages</a:t>
            </a:r>
            <a:endParaRPr sz="38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997129" y="4076007"/>
          <a:ext cx="14859000" cy="104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2890"/>
                <a:gridCol w="4271010"/>
                <a:gridCol w="4146550"/>
                <a:gridCol w="3556634"/>
              </a:tblGrid>
              <a:tr h="758190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4700" spc="30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dirty="0" sz="4700" spc="-615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 spc="-5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47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470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4700" spc="-17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4700" spc="-17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 spc="-5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47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4700" spc="21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24</a:t>
                      </a:r>
                      <a:r>
                        <a:rPr dirty="0" sz="4700" spc="-645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700" spc="-645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 spc="-5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47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470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4700" spc="-385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700" spc="-50">
                          <a:solidFill>
                            <a:srgbClr val="0082C7"/>
                          </a:solidFill>
                          <a:latin typeface="Calibri"/>
                          <a:cs typeface="Calibri"/>
                        </a:rPr>
                        <a:t>$</a:t>
                      </a:r>
                      <a:endParaRPr sz="47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marL="226060">
                        <a:lnSpc>
                          <a:spcPts val="1270"/>
                        </a:lnSpc>
                      </a:pPr>
                      <a:r>
                        <a:rPr dirty="0" sz="2100" spc="-10">
                          <a:latin typeface="Calibri"/>
                          <a:cs typeface="Calibri"/>
                        </a:rPr>
                        <a:t>secure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4"/>
                        </a:lnSpc>
                        <a:spcBef>
                          <a:spcPts val="270"/>
                        </a:spcBef>
                      </a:pPr>
                      <a:r>
                        <a:rPr dirty="0" sz="1650" spc="-1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Instant</a:t>
                      </a:r>
                      <a:r>
                        <a:rPr dirty="0" sz="1650" spc="-95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OPAC</a:t>
                      </a:r>
                      <a:r>
                        <a:rPr dirty="0" sz="1650" spc="-9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-1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Search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4"/>
                        </a:lnSpc>
                        <a:spcBef>
                          <a:spcPts val="270"/>
                        </a:spcBef>
                      </a:pPr>
                      <a:r>
                        <a:rPr dirty="0" sz="1650" spc="-1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Resource</a:t>
                      </a:r>
                      <a:r>
                        <a:rPr dirty="0" sz="1650" spc="-114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-1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Accessibility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4"/>
                        </a:lnSpc>
                        <a:spcBef>
                          <a:spcPts val="270"/>
                        </a:spcBef>
                      </a:pPr>
                      <a:r>
                        <a:rPr dirty="0" sz="1650" spc="-55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Third-</a:t>
                      </a:r>
                      <a:r>
                        <a:rPr dirty="0" sz="1650" spc="-35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party</a:t>
                      </a:r>
                      <a:r>
                        <a:rPr dirty="0" sz="1650" spc="-75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-4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dirty="0" sz="1650" spc="-75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-20">
                          <a:solidFill>
                            <a:srgbClr val="455369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endParaRPr sz="1650">
                        <a:latin typeface="Verdana"/>
                        <a:cs typeface="Verdana"/>
                      </a:endParaRPr>
                    </a:p>
                  </a:txBody>
                  <a:tcPr marL="0" marR="0" marB="0" marT="342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5964" cy="15884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4114800"/>
            <a:ext cx="228376" cy="171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5872162"/>
            <a:ext cx="185737" cy="1857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250" y="8144094"/>
            <a:ext cx="142874" cy="19968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95">
                <a:solidFill>
                  <a:srgbClr val="0D1729"/>
                </a:solidFill>
              </a:rPr>
              <a:t>Future</a:t>
            </a:r>
            <a:r>
              <a:rPr dirty="0" sz="4800" spc="-335">
                <a:solidFill>
                  <a:srgbClr val="0D1729"/>
                </a:solidFill>
              </a:rPr>
              <a:t> </a:t>
            </a:r>
            <a:r>
              <a:rPr dirty="0" sz="4800" spc="-175">
                <a:solidFill>
                  <a:srgbClr val="0D1729"/>
                </a:solidFill>
              </a:rPr>
              <a:t>Enhancements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1368424" y="3774191"/>
            <a:ext cx="6436360" cy="4368800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Cloud</a:t>
            </a:r>
            <a:r>
              <a:rPr dirty="0" sz="2400" spc="-7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Storage</a:t>
            </a:r>
            <a:r>
              <a:rPr dirty="0" sz="2400" spc="-6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Syncing:</a:t>
            </a:r>
            <a:r>
              <a:rPr dirty="0" sz="2400" spc="-65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Integrate</a:t>
            </a:r>
            <a:r>
              <a:rPr dirty="0" sz="2400" spc="-7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remote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S3/GCS</a:t>
            </a:r>
            <a:r>
              <a:rPr dirty="0" sz="24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buckets</a:t>
            </a:r>
            <a:r>
              <a:rPr dirty="0" sz="2400" spc="-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24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unlimited</a:t>
            </a:r>
            <a:r>
              <a:rPr dirty="0" sz="2400" spc="-2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asset</a:t>
            </a:r>
            <a:r>
              <a:rPr dirty="0" sz="2400" spc="-3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distribution.</a:t>
            </a:r>
            <a:endParaRPr sz="2400">
              <a:latin typeface="Tahoma"/>
              <a:cs typeface="Tahoma"/>
            </a:endParaRPr>
          </a:p>
          <a:p>
            <a:pPr marL="12700" marR="511809">
              <a:lnSpc>
                <a:spcPct val="148400"/>
              </a:lnSpc>
            </a:pP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AI</a:t>
            </a:r>
            <a:r>
              <a:rPr dirty="0" sz="2400" spc="-5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Semantic</a:t>
            </a:r>
            <a:r>
              <a:rPr dirty="0" sz="2400" spc="-5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Search:</a:t>
            </a:r>
            <a:r>
              <a:rPr dirty="0" sz="2400" spc="-5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Incorporate</a:t>
            </a:r>
            <a:r>
              <a:rPr dirty="0" sz="2400" spc="-5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natural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language</a:t>
            </a:r>
            <a:r>
              <a:rPr dirty="0" sz="2400" spc="-4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processing</a:t>
            </a:r>
            <a:r>
              <a:rPr dirty="0" sz="24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for</a:t>
            </a:r>
            <a:r>
              <a:rPr dirty="0" sz="24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smart</a:t>
            </a:r>
            <a:r>
              <a:rPr dirty="0" sz="2400" spc="-3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334053"/>
                </a:solidFill>
                <a:latin typeface="Tahoma"/>
                <a:cs typeface="Tahoma"/>
              </a:rPr>
              <a:t>vector-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based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resource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recommendations.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400" spc="-20" b="1">
                <a:solidFill>
                  <a:srgbClr val="334053"/>
                </a:solidFill>
                <a:latin typeface="Tahoma"/>
                <a:cs typeface="Tahoma"/>
              </a:rPr>
              <a:t>Cross-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Platform</a:t>
            </a:r>
            <a:r>
              <a:rPr dirty="0" sz="2400" spc="-4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Mobile</a:t>
            </a:r>
            <a:r>
              <a:rPr dirty="0" sz="2400" spc="-4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334053"/>
                </a:solidFill>
                <a:latin typeface="Tahoma"/>
                <a:cs typeface="Tahoma"/>
              </a:rPr>
              <a:t>App:</a:t>
            </a:r>
            <a:r>
              <a:rPr dirty="0" sz="2400" spc="-4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Build</a:t>
            </a:r>
            <a:endParaRPr sz="2400">
              <a:latin typeface="Tahoma"/>
              <a:cs typeface="Tahoma"/>
            </a:endParaRPr>
          </a:p>
          <a:p>
            <a:pPr marL="12700" marR="238125">
              <a:lnSpc>
                <a:spcPct val="148400"/>
              </a:lnSpc>
            </a:pP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flutter/React</a:t>
            </a:r>
            <a:r>
              <a:rPr dirty="0" sz="24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Native</a:t>
            </a:r>
            <a:r>
              <a:rPr dirty="0" sz="2400" spc="-1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frontends</a:t>
            </a:r>
            <a:r>
              <a:rPr dirty="0" sz="2400" spc="-2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interacting</a:t>
            </a:r>
            <a:r>
              <a:rPr dirty="0" sz="2400" spc="-1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334053"/>
                </a:solidFill>
                <a:latin typeface="Tahoma"/>
                <a:cs typeface="Tahoma"/>
              </a:rPr>
              <a:t>with </a:t>
            </a:r>
            <a:r>
              <a:rPr dirty="0" sz="2400" spc="620">
                <a:solidFill>
                  <a:srgbClr val="334053"/>
                </a:solidFill>
                <a:latin typeface="Tahoma"/>
                <a:cs typeface="Tahoma"/>
              </a:rPr>
              <a:t>C□□</a:t>
            </a:r>
            <a:r>
              <a:rPr dirty="0" sz="2400" spc="-45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4053"/>
                </a:solidFill>
                <a:latin typeface="Tahoma"/>
                <a:cs typeface="Tahoma"/>
              </a:rPr>
              <a:t>backend</a:t>
            </a:r>
            <a:r>
              <a:rPr dirty="0" sz="2400" spc="-40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334053"/>
                </a:solidFill>
                <a:latin typeface="Tahoma"/>
                <a:cs typeface="Tahoma"/>
              </a:rPr>
              <a:t>services.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7498902" cy="15200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72400" y="1828800"/>
            <a:ext cx="10515599" cy="84581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6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23381" y="4063930"/>
            <a:ext cx="13241655" cy="435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7010" marR="199390">
              <a:lnSpc>
                <a:spcPct val="158000"/>
              </a:lnSpc>
              <a:spcBef>
                <a:spcPts val="100"/>
              </a:spcBef>
            </a:pP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The</a:t>
            </a:r>
            <a:r>
              <a:rPr dirty="0" sz="3600" spc="-7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Digital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Library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&amp;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Paperless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Learning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Resource</a:t>
            </a:r>
            <a:r>
              <a:rPr dirty="0" sz="3600" spc="-7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036EA6"/>
                </a:solidFill>
                <a:latin typeface="Tahoma"/>
                <a:cs typeface="Tahoma"/>
              </a:rPr>
              <a:t>Management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System</a:t>
            </a:r>
            <a:r>
              <a:rPr dirty="0" sz="3600" spc="-11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demonstrates</a:t>
            </a:r>
            <a:r>
              <a:rPr dirty="0" sz="3600" spc="-10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how</a:t>
            </a:r>
            <a:r>
              <a:rPr dirty="0" sz="3600" spc="-10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foundational</a:t>
            </a:r>
            <a:r>
              <a:rPr dirty="0" sz="3600" spc="-10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 spc="-25">
                <a:solidFill>
                  <a:srgbClr val="036EA6"/>
                </a:solidFill>
                <a:latin typeface="Tahoma"/>
                <a:cs typeface="Tahoma"/>
              </a:rPr>
              <a:t>Object-</a:t>
            </a:r>
            <a:r>
              <a:rPr dirty="0" sz="3600" spc="-10">
                <a:solidFill>
                  <a:srgbClr val="036EA6"/>
                </a:solidFill>
                <a:latin typeface="Tahoma"/>
                <a:cs typeface="Tahoma"/>
              </a:rPr>
              <a:t>Oriented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paradigms</a:t>
            </a:r>
            <a:r>
              <a:rPr dirty="0" sz="3600" spc="-12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and</a:t>
            </a:r>
            <a:r>
              <a:rPr dirty="0" sz="3600" spc="-12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file</a:t>
            </a:r>
            <a:r>
              <a:rPr dirty="0" sz="3600" spc="-11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processing</a:t>
            </a:r>
            <a:r>
              <a:rPr dirty="0" sz="3600" spc="-11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techniques</a:t>
            </a:r>
            <a:r>
              <a:rPr dirty="0" sz="3600" spc="-11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can</a:t>
            </a:r>
            <a:r>
              <a:rPr dirty="0" sz="3600" spc="-11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036EA6"/>
                </a:solidFill>
                <a:latin typeface="Tahoma"/>
                <a:cs typeface="Tahoma"/>
              </a:rPr>
              <a:t>effectively</a:t>
            </a:r>
            <a:endParaRPr sz="3600">
              <a:latin typeface="Tahoma"/>
              <a:cs typeface="Tahoma"/>
            </a:endParaRPr>
          </a:p>
          <a:p>
            <a:pPr algn="ctr" marL="12700" marR="5080">
              <a:lnSpc>
                <a:spcPct val="158000"/>
              </a:lnSpc>
            </a:pP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automate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academic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resource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administration,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reduce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paper</a:t>
            </a:r>
            <a:r>
              <a:rPr dirty="0" sz="3600" spc="-12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036EA6"/>
                </a:solidFill>
                <a:latin typeface="Tahoma"/>
                <a:cs typeface="Tahoma"/>
              </a:rPr>
              <a:t>waste,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and</a:t>
            </a:r>
            <a:r>
              <a:rPr dirty="0" sz="3600" spc="-9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deliver</a:t>
            </a:r>
            <a:r>
              <a:rPr dirty="0" sz="3600" spc="-9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an</a:t>
            </a:r>
            <a:r>
              <a:rPr dirty="0" sz="3600" spc="-9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intuitive</a:t>
            </a:r>
            <a:r>
              <a:rPr dirty="0" sz="3600" spc="-95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>
                <a:solidFill>
                  <a:srgbClr val="036EA6"/>
                </a:solidFill>
                <a:latin typeface="Tahoma"/>
                <a:cs typeface="Tahoma"/>
              </a:rPr>
              <a:t>learning</a:t>
            </a:r>
            <a:r>
              <a:rPr dirty="0" sz="3600" spc="-9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036EA6"/>
                </a:solidFill>
                <a:latin typeface="Tahoma"/>
                <a:cs typeface="Tahoma"/>
              </a:rPr>
              <a:t>platform.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98902" cy="15200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6250" y="5980661"/>
            <a:ext cx="9715500" cy="757555"/>
            <a:chOff x="4286250" y="5980661"/>
            <a:chExt cx="9715500" cy="757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0" y="5980661"/>
              <a:ext cx="9715499" cy="7572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6237836"/>
              <a:ext cx="228599" cy="243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3937" y="6251371"/>
              <a:ext cx="328079" cy="23010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16521" y="3434149"/>
            <a:ext cx="426656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320">
                <a:solidFill>
                  <a:srgbClr val="0D1729"/>
                </a:solidFill>
              </a:rPr>
              <a:t>Thank</a:t>
            </a:r>
            <a:r>
              <a:rPr dirty="0" sz="7200" spc="-750">
                <a:solidFill>
                  <a:srgbClr val="0D1729"/>
                </a:solidFill>
              </a:rPr>
              <a:t> </a:t>
            </a:r>
            <a:r>
              <a:rPr dirty="0" sz="7200" spc="-310">
                <a:solidFill>
                  <a:srgbClr val="0D1729"/>
                </a:solidFill>
              </a:rPr>
              <a:t>You!</a:t>
            </a:r>
            <a:endParaRPr sz="7200"/>
          </a:p>
        </p:txBody>
      </p:sp>
      <p:sp>
        <p:nvSpPr>
          <p:cNvPr id="7" name="object 7"/>
          <p:cNvSpPr txBox="1"/>
          <p:nvPr/>
        </p:nvSpPr>
        <p:spPr>
          <a:xfrm>
            <a:off x="5036140" y="6176511"/>
            <a:ext cx="263906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61895" algn="l"/>
              </a:tabLst>
            </a:pPr>
            <a:r>
              <a:rPr dirty="0" sz="2000" spc="-10" b="1">
                <a:solidFill>
                  <a:srgbClr val="334053"/>
                </a:solidFill>
                <a:latin typeface="Tahoma"/>
                <a:cs typeface="Tahoma"/>
              </a:rPr>
              <a:t>Capstone</a:t>
            </a:r>
            <a:r>
              <a:rPr dirty="0" sz="2000" spc="-12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334053"/>
                </a:solidFill>
                <a:latin typeface="Tahoma"/>
                <a:cs typeface="Tahoma"/>
              </a:rPr>
              <a:t>Project</a:t>
            </a:r>
            <a:r>
              <a:rPr dirty="0" sz="2000" b="1">
                <a:solidFill>
                  <a:srgbClr val="334053"/>
                </a:solidFill>
                <a:latin typeface="Tahoma"/>
                <a:cs typeface="Tahoma"/>
              </a:rPr>
              <a:t>	</a:t>
            </a:r>
            <a:r>
              <a:rPr dirty="0" sz="2000" spc="-50" b="1">
                <a:solidFill>
                  <a:srgbClr val="334053"/>
                </a:solidFill>
                <a:latin typeface="Tahoma"/>
                <a:cs typeface="Tahoma"/>
              </a:rPr>
              <a:t>|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84729" y="6176511"/>
            <a:ext cx="43440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5" b="1">
                <a:solidFill>
                  <a:srgbClr val="334053"/>
                </a:solidFill>
                <a:latin typeface="Tahoma"/>
                <a:cs typeface="Tahoma"/>
              </a:rPr>
              <a:t>Digital</a:t>
            </a:r>
            <a:r>
              <a:rPr dirty="0" sz="2000" spc="-8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000" spc="-65" b="1">
                <a:solidFill>
                  <a:srgbClr val="334053"/>
                </a:solidFill>
                <a:latin typeface="Tahoma"/>
                <a:cs typeface="Tahoma"/>
              </a:rPr>
              <a:t>Library</a:t>
            </a:r>
            <a:r>
              <a:rPr dirty="0" sz="2000" spc="-8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000" spc="-65" b="1">
                <a:solidFill>
                  <a:srgbClr val="334053"/>
                </a:solidFill>
                <a:latin typeface="Tahoma"/>
                <a:cs typeface="Tahoma"/>
              </a:rPr>
              <a:t>Management</a:t>
            </a:r>
            <a:r>
              <a:rPr dirty="0" sz="2000" spc="-80" b="1">
                <a:solidFill>
                  <a:srgbClr val="334053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334053"/>
                </a:solidFill>
                <a:latin typeface="Tahoma"/>
                <a:cs typeface="Tahoma"/>
              </a:rPr>
              <a:t>System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NoNamer</dc:creator>
  <cp:keywords>DAHUHAT-5oo,BAG4quNphJg</cp:keywords>
  <dc:title>capstone Digital Library &amp; Paperless Learning Resource Management System  (1) (1).pptx</dc:title>
  <dcterms:created xsi:type="dcterms:W3CDTF">2026-09-03T04:31:40Z</dcterms:created>
  <dcterms:modified xsi:type="dcterms:W3CDTF">2026-09-03T04:31:40Z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2026-09-03T00:00:00Z</vt:filetime>
  </property>
  <property fmtid="{D5CDD505-2E9C-101B-9397-08002B2CF9AE}" pid="6" name="Producer">
    <vt:lpwstr>Canva</vt:lpwstr>
  </property>
</Properties>
</file>